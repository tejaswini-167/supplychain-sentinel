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3C"/>
        </a:solidFill>
        <a:effectLst/>
      </p:bgPr>
    </p:bg>
    <p:spTree>
      <p:nvGrpSpPr>
        <p:cNvPr id="1" name=""/>
        <p:cNvGrpSpPr/>
        <p:nvPr/>
      </p:nvGrpSpPr>
      <p:grpSpPr/>
      <p:sp>
        <p:nvSpPr>
          <p:cNvPr id="2" name="Rounded Rectangle 1"/>
          <p:cNvSpPr/>
          <p:nvPr/>
        </p:nvSpPr>
        <p:spPr>
          <a:xfrm>
            <a:off x="8778240" y="731520"/>
            <a:ext cx="2560320" cy="1143000"/>
          </a:xfrm>
          <a:prstGeom prst="round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464040" y="2103120"/>
            <a:ext cx="1920240" cy="1005840"/>
          </a:xfrm>
          <a:prstGeom prst="round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183879" y="3383280"/>
            <a:ext cx="3200400" cy="1234440"/>
          </a:xfrm>
          <a:prstGeom prst="roundRect">
            <a:avLst/>
          </a:prstGeom>
          <a:solidFill>
            <a:srgbClr val="23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0" y="4892040"/>
            <a:ext cx="2194560" cy="685800"/>
          </a:xfrm>
          <a:prstGeom prst="round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85800"/>
            <a:ext cx="7132320" cy="365760"/>
          </a:xfrm>
          <a:prstGeom prst="rect">
            <a:avLst/>
          </a:prstGeom>
          <a:noFill/>
        </p:spPr>
        <p:txBody>
          <a:bodyPr wrap="square" lIns="54864" rIns="54864" tIns="54864" bIns="54864" anchor="t">
            <a:spAutoFit/>
          </a:bodyPr>
          <a:lstStyle/>
          <a:p>
            <a:pPr>
              <a:spcAft>
                <a:spcPts val="500"/>
              </a:spcAft>
              <a:defRPr sz="1200" b="1">
                <a:solidFill>
                  <a:srgbClr val="82D2D2"/>
                </a:solidFill>
                <a:latin typeface="Aptos"/>
              </a:defRPr>
            </a:pPr>
            <a:r>
              <a:t>PERSONAL PROJECT • END-TO-END BUILD GUIDE</a:t>
            </a:r>
          </a:p>
        </p:txBody>
      </p:sp>
      <p:sp>
        <p:nvSpPr>
          <p:cNvPr id="7" name="TextBox 6"/>
          <p:cNvSpPr txBox="1"/>
          <p:nvPr/>
        </p:nvSpPr>
        <p:spPr>
          <a:xfrm>
            <a:off x="685800" y="1417320"/>
            <a:ext cx="7589520" cy="1325880"/>
          </a:xfrm>
          <a:prstGeom prst="rect">
            <a:avLst/>
          </a:prstGeom>
          <a:noFill/>
        </p:spPr>
        <p:txBody>
          <a:bodyPr wrap="square" lIns="54864" rIns="54864" tIns="54864" bIns="54864" anchor="t">
            <a:spAutoFit/>
          </a:bodyPr>
          <a:lstStyle/>
          <a:p>
            <a:pPr>
              <a:spcAft>
                <a:spcPts val="500"/>
              </a:spcAft>
              <a:defRPr sz="3600" b="1">
                <a:solidFill>
                  <a:srgbClr val="FFFFFF"/>
                </a:solidFill>
                <a:latin typeface="Aptos"/>
              </a:defRPr>
            </a:pPr>
            <a:r>
              <a:t>SUPPLYCHAIN</a:t>
            </a:r>
          </a:p>
          <a:p>
            <a:pPr>
              <a:spcAft>
                <a:spcPts val="500"/>
              </a:spcAft>
              <a:defRPr sz="3600" b="1">
                <a:solidFill>
                  <a:srgbClr val="FFFFFF"/>
                </a:solidFill>
                <a:latin typeface="Aptos"/>
              </a:defRPr>
            </a:pPr>
            <a:r>
              <a:t>SENTINEL</a:t>
            </a:r>
          </a:p>
        </p:txBody>
      </p:sp>
      <p:sp>
        <p:nvSpPr>
          <p:cNvPr id="8" name="TextBox 7"/>
          <p:cNvSpPr txBox="1"/>
          <p:nvPr/>
        </p:nvSpPr>
        <p:spPr>
          <a:xfrm>
            <a:off x="713232" y="3063240"/>
            <a:ext cx="6858000" cy="822960"/>
          </a:xfrm>
          <a:prstGeom prst="rect">
            <a:avLst/>
          </a:prstGeom>
          <a:noFill/>
        </p:spPr>
        <p:txBody>
          <a:bodyPr wrap="square" lIns="54864" rIns="54864" tIns="54864" bIns="54864" anchor="t">
            <a:spAutoFit/>
          </a:bodyPr>
          <a:lstStyle/>
          <a:p>
            <a:pPr>
              <a:spcAft>
                <a:spcPts val="500"/>
              </a:spcAft>
              <a:defRPr sz="2100" b="0">
                <a:solidFill>
                  <a:srgbClr val="E0E9F4"/>
                </a:solidFill>
                <a:latin typeface="Aptos"/>
              </a:defRPr>
            </a:pPr>
            <a:r>
              <a:t>A full-stack supply-chain operations and data intelligence platform</a:t>
            </a:r>
          </a:p>
        </p:txBody>
      </p:sp>
      <p:sp>
        <p:nvSpPr>
          <p:cNvPr id="9" name="TextBox 8"/>
          <p:cNvSpPr txBox="1"/>
          <p:nvPr/>
        </p:nvSpPr>
        <p:spPr>
          <a:xfrm>
            <a:off x="731520" y="4297680"/>
            <a:ext cx="6949440" cy="1005840"/>
          </a:xfrm>
          <a:prstGeom prst="rect">
            <a:avLst/>
          </a:prstGeom>
          <a:noFill/>
        </p:spPr>
        <p:txBody>
          <a:bodyPr wrap="square" lIns="54864" rIns="54864" tIns="54864" bIns="54864" anchor="t">
            <a:spAutoFit/>
          </a:bodyPr>
          <a:lstStyle/>
          <a:p>
            <a:pPr>
              <a:spcAft>
                <a:spcPts val="500"/>
              </a:spcAft>
              <a:defRPr sz="1500" b="0">
                <a:solidFill>
                  <a:srgbClr val="C4D2E4"/>
                </a:solidFill>
                <a:latin typeface="Aptos"/>
              </a:defRPr>
            </a:pPr>
            <a:r>
              <a:t>A beginner-first blueprint covering software engineering, SDLC, APIs, databases, big data, analytics, testing, deployment and maintenance.</a:t>
            </a:r>
          </a:p>
        </p:txBody>
      </p:sp>
      <p:sp>
        <p:nvSpPr>
          <p:cNvPr id="10" name="TextBox 9"/>
          <p:cNvSpPr txBox="1"/>
          <p:nvPr/>
        </p:nvSpPr>
        <p:spPr>
          <a:xfrm>
            <a:off x="731520" y="6080760"/>
            <a:ext cx="6217920" cy="274320"/>
          </a:xfrm>
          <a:prstGeom prst="rect">
            <a:avLst/>
          </a:prstGeom>
          <a:noFill/>
        </p:spPr>
        <p:txBody>
          <a:bodyPr wrap="square" lIns="54864" rIns="54864" tIns="54864" bIns="54864" anchor="t">
            <a:spAutoFit/>
          </a:bodyPr>
          <a:lstStyle/>
          <a:p>
            <a:pPr>
              <a:spcAft>
                <a:spcPts val="500"/>
              </a:spcAft>
              <a:defRPr sz="1000" b="0">
                <a:solidFill>
                  <a:srgbClr val="96ABC4"/>
                </a:solidFill>
                <a:latin typeface="Aptos"/>
              </a:defRPr>
            </a:pPr>
            <a:r>
              <a:t>Version 1.0  |  Planning reference for the GitHub repository</a:t>
            </a:r>
          </a:p>
        </p:txBody>
      </p:sp>
      <p:sp>
        <p:nvSpPr>
          <p:cNvPr id="11" name="TextBox 10"/>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12" name="TextBox 11"/>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How to use this blueprint</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32688"/>
            <a:ext cx="10972800" cy="384048"/>
          </a:xfrm>
          <a:prstGeom prst="rect">
            <a:avLst/>
          </a:prstGeom>
          <a:noFill/>
        </p:spPr>
        <p:txBody>
          <a:bodyPr wrap="square" lIns="54864" rIns="54864" tIns="54864" bIns="54864" anchor="t">
            <a:spAutoFit/>
          </a:bodyPr>
          <a:lstStyle/>
          <a:p>
            <a:pPr>
              <a:spcAft>
                <a:spcPts val="500"/>
              </a:spcAft>
              <a:defRPr sz="1200" b="0">
                <a:solidFill>
                  <a:srgbClr val="5C6C80"/>
                </a:solidFill>
                <a:latin typeface="Aptos"/>
              </a:defRPr>
            </a:pPr>
            <a:r>
              <a:t>Keep this presentation in the repository as the project’s living roadmap.</a:t>
            </a:r>
          </a:p>
        </p:txBody>
      </p:sp>
      <p:sp>
        <p:nvSpPr>
          <p:cNvPr id="5" name="TextBox 4"/>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START HERE</a:t>
            </a:r>
          </a:p>
        </p:txBody>
      </p:sp>
      <p:sp>
        <p:nvSpPr>
          <p:cNvPr id="6" name="TextBox 5"/>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7" name="TextBox 6"/>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02</a:t>
            </a:r>
          </a:p>
        </p:txBody>
      </p:sp>
      <p:sp>
        <p:nvSpPr>
          <p:cNvPr id="8" name="Rounded Rectangle 7"/>
          <p:cNvSpPr/>
          <p:nvPr/>
        </p:nvSpPr>
        <p:spPr>
          <a:xfrm>
            <a:off x="594360" y="1508760"/>
            <a:ext cx="352044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508760"/>
            <a:ext cx="64008" cy="18288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27631"/>
            <a:ext cx="322783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1 • Read before coding</a:t>
            </a:r>
          </a:p>
        </p:txBody>
      </p:sp>
      <p:sp>
        <p:nvSpPr>
          <p:cNvPr id="11" name="TextBox 10"/>
          <p:cNvSpPr txBox="1"/>
          <p:nvPr/>
        </p:nvSpPr>
        <p:spPr>
          <a:xfrm>
            <a:off x="758952" y="2011680"/>
            <a:ext cx="3209544" cy="12435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Understand the problem, scope, architecture and staged roadmap. Do not try to implement every technology immediately.</a:t>
            </a:r>
          </a:p>
        </p:txBody>
      </p:sp>
      <p:sp>
        <p:nvSpPr>
          <p:cNvPr id="12" name="Rounded Rectangle 11"/>
          <p:cNvSpPr/>
          <p:nvPr/>
        </p:nvSpPr>
        <p:spPr>
          <a:xfrm>
            <a:off x="4343400" y="1508760"/>
            <a:ext cx="352044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508760"/>
            <a:ext cx="64008" cy="18288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627631"/>
            <a:ext cx="322783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2 • Build in milestones</a:t>
            </a:r>
          </a:p>
        </p:txBody>
      </p:sp>
      <p:sp>
        <p:nvSpPr>
          <p:cNvPr id="15" name="TextBox 14"/>
          <p:cNvSpPr txBox="1"/>
          <p:nvPr/>
        </p:nvSpPr>
        <p:spPr>
          <a:xfrm>
            <a:off x="4507992" y="2011680"/>
            <a:ext cx="3209544" cy="12435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Every milestone should end with something working, tested and committed to Git.</a:t>
            </a:r>
          </a:p>
        </p:txBody>
      </p:sp>
      <p:sp>
        <p:nvSpPr>
          <p:cNvPr id="16" name="Rounded Rectangle 15"/>
          <p:cNvSpPr/>
          <p:nvPr/>
        </p:nvSpPr>
        <p:spPr>
          <a:xfrm>
            <a:off x="8092440" y="1508760"/>
            <a:ext cx="352044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508760"/>
            <a:ext cx="64008" cy="18288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627631"/>
            <a:ext cx="322783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3 • Update as you learn</a:t>
            </a:r>
          </a:p>
        </p:txBody>
      </p:sp>
      <p:sp>
        <p:nvSpPr>
          <p:cNvPr id="19" name="TextBox 18"/>
          <p:cNvSpPr txBox="1"/>
          <p:nvPr/>
        </p:nvSpPr>
        <p:spPr>
          <a:xfrm>
            <a:off x="8257031" y="2011680"/>
            <a:ext cx="3209544" cy="12435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Mark features as Planned, In Progress, Implemented or Deferred. Never describe unbuilt features as complete.</a:t>
            </a:r>
          </a:p>
        </p:txBody>
      </p:sp>
      <p:sp>
        <p:nvSpPr>
          <p:cNvPr id="20" name="TextBox 19"/>
          <p:cNvSpPr txBox="1"/>
          <p:nvPr/>
        </p:nvSpPr>
        <p:spPr>
          <a:xfrm>
            <a:off x="777240" y="3886200"/>
            <a:ext cx="10789920" cy="1645920"/>
          </a:xfrm>
          <a:prstGeom prst="rect">
            <a:avLst/>
          </a:prstGeom>
          <a:noFill/>
        </p:spPr>
        <p:txBody>
          <a:bodyPr wrap="square" lIns="109728" rIns="73152" tIns="73152">
            <a:spAutoFit/>
          </a:bodyPr>
          <a:lstStyle/>
          <a:p>
            <a:pPr>
              <a:spcAft>
                <a:spcPts val="500"/>
              </a:spcAft>
              <a:defRPr sz="1700">
                <a:solidFill>
                  <a:srgbClr val="232C38"/>
                </a:solidFill>
                <a:latin typeface="Aptos"/>
              </a:defRPr>
            </a:pPr>
            <a:r>
              <a:t>• Guiding rule: learn each concept when the project needs it.</a:t>
            </a:r>
          </a:p>
          <a:p>
            <a:pPr>
              <a:spcAft>
                <a:spcPts val="500"/>
              </a:spcAft>
              <a:defRPr sz="1700">
                <a:solidFill>
                  <a:srgbClr val="232C38"/>
                </a:solidFill>
                <a:latin typeface="Aptos"/>
              </a:defRPr>
            </a:pPr>
            <a:r>
              <a:t>• Scope rule: a reliable modular application comes before distributed infrastructure.</a:t>
            </a:r>
          </a:p>
          <a:p>
            <a:pPr>
              <a:spcAft>
                <a:spcPts val="500"/>
              </a:spcAft>
              <a:defRPr sz="1700">
                <a:solidFill>
                  <a:srgbClr val="232C38"/>
                </a:solidFill>
                <a:latin typeface="Aptos"/>
              </a:defRPr>
            </a:pPr>
            <a:r>
              <a:t>• Portfolio rule: show evidence—tests, screenshots, benchmark results and a working demo—not just technology names.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 Project vision and problem statement</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PRODUCT</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03</a:t>
            </a:r>
          </a:p>
        </p:txBody>
      </p:sp>
      <p:sp>
        <p:nvSpPr>
          <p:cNvPr id="7" name="TextBox 6"/>
          <p:cNvSpPr txBox="1"/>
          <p:nvPr/>
        </p:nvSpPr>
        <p:spPr>
          <a:xfrm>
            <a:off x="685800" y="1325880"/>
            <a:ext cx="5303520" cy="548640"/>
          </a:xfrm>
          <a:prstGeom prst="rect">
            <a:avLst/>
          </a:prstGeom>
          <a:noFill/>
        </p:spPr>
        <p:txBody>
          <a:bodyPr wrap="square" lIns="54864" rIns="54864" tIns="54864" bIns="54864" anchor="t">
            <a:spAutoFit/>
          </a:bodyPr>
          <a:lstStyle/>
          <a:p>
            <a:pPr>
              <a:spcAft>
                <a:spcPts val="500"/>
              </a:spcAft>
              <a:defRPr sz="2000" b="1">
                <a:solidFill>
                  <a:srgbClr val="14233C"/>
                </a:solidFill>
                <a:latin typeface="Aptos"/>
              </a:defRPr>
            </a:pPr>
            <a:r>
              <a:t>The problem</a:t>
            </a:r>
          </a:p>
        </p:txBody>
      </p:sp>
      <p:sp>
        <p:nvSpPr>
          <p:cNvPr id="8" name="TextBox 7"/>
          <p:cNvSpPr txBox="1"/>
          <p:nvPr/>
        </p:nvSpPr>
        <p:spPr>
          <a:xfrm>
            <a:off x="685800" y="1874519"/>
            <a:ext cx="5212080" cy="1920240"/>
          </a:xfrm>
          <a:prstGeom prst="rect">
            <a:avLst/>
          </a:prstGeom>
          <a:noFill/>
        </p:spPr>
        <p:txBody>
          <a:bodyPr wrap="square" lIns="54864" rIns="54864" tIns="54864" bIns="54864" anchor="t">
            <a:spAutoFit/>
          </a:bodyPr>
          <a:lstStyle/>
          <a:p>
            <a:pPr>
              <a:spcAft>
                <a:spcPts val="500"/>
              </a:spcAft>
              <a:defRPr sz="1700" b="0">
                <a:solidFill>
                  <a:srgbClr val="232C38"/>
                </a:solidFill>
                <a:latin typeface="Aptos"/>
              </a:defRPr>
            </a:pPr>
            <a:r>
              <a:t>Supply-chain teams work with orders, inventory, suppliers and shipment events that may be spread across files and systems. Delays and stockouts can be discovered too late, and reporting can be slow or inconsistent.</a:t>
            </a:r>
          </a:p>
        </p:txBody>
      </p:sp>
      <p:sp>
        <p:nvSpPr>
          <p:cNvPr id="9" name="TextBox 8"/>
          <p:cNvSpPr txBox="1"/>
          <p:nvPr/>
        </p:nvSpPr>
        <p:spPr>
          <a:xfrm>
            <a:off x="6263640" y="1325880"/>
            <a:ext cx="5212080" cy="548640"/>
          </a:xfrm>
          <a:prstGeom prst="rect">
            <a:avLst/>
          </a:prstGeom>
          <a:noFill/>
        </p:spPr>
        <p:txBody>
          <a:bodyPr wrap="square" lIns="54864" rIns="54864" tIns="54864" bIns="54864" anchor="t">
            <a:spAutoFit/>
          </a:bodyPr>
          <a:lstStyle/>
          <a:p>
            <a:pPr>
              <a:spcAft>
                <a:spcPts val="500"/>
              </a:spcAft>
              <a:defRPr sz="2000" b="1">
                <a:solidFill>
                  <a:srgbClr val="14233C"/>
                </a:solidFill>
                <a:latin typeface="Aptos"/>
              </a:defRPr>
            </a:pPr>
            <a:r>
              <a:t>The product</a:t>
            </a:r>
          </a:p>
        </p:txBody>
      </p:sp>
      <p:sp>
        <p:nvSpPr>
          <p:cNvPr id="10" name="TextBox 9"/>
          <p:cNvSpPr txBox="1"/>
          <p:nvPr/>
        </p:nvSpPr>
        <p:spPr>
          <a:xfrm>
            <a:off x="6263640" y="1874519"/>
            <a:ext cx="5120640" cy="1920240"/>
          </a:xfrm>
          <a:prstGeom prst="rect">
            <a:avLst/>
          </a:prstGeom>
          <a:noFill/>
        </p:spPr>
        <p:txBody>
          <a:bodyPr wrap="square" lIns="54864" rIns="54864" tIns="54864" bIns="54864" anchor="t">
            <a:spAutoFit/>
          </a:bodyPr>
          <a:lstStyle/>
          <a:p>
            <a:pPr>
              <a:spcAft>
                <a:spcPts val="500"/>
              </a:spcAft>
              <a:defRPr sz="1700" b="0">
                <a:solidFill>
                  <a:srgbClr val="232C38"/>
                </a:solidFill>
                <a:latin typeface="Aptos"/>
              </a:defRPr>
            </a:pPr>
            <a:r>
              <a:t>SupplyChain Sentinel ingests and validates operational data, stores it reliably, provides workflows for managing orders and shipments, computes KPIs, flags exceptions and later adds predictive risk estimates.</a:t>
            </a:r>
          </a:p>
        </p:txBody>
      </p:sp>
      <p:sp>
        <p:nvSpPr>
          <p:cNvPr id="11" name="Rounded Rectangle 10"/>
          <p:cNvSpPr/>
          <p:nvPr/>
        </p:nvSpPr>
        <p:spPr>
          <a:xfrm>
            <a:off x="731520" y="4251960"/>
            <a:ext cx="34290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251960"/>
            <a:ext cx="64008" cy="11430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370832"/>
            <a:ext cx="31363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Primary users</a:t>
            </a:r>
          </a:p>
        </p:txBody>
      </p:sp>
      <p:sp>
        <p:nvSpPr>
          <p:cNvPr id="14" name="TextBox 13"/>
          <p:cNvSpPr txBox="1"/>
          <p:nvPr/>
        </p:nvSpPr>
        <p:spPr>
          <a:xfrm>
            <a:off x="896112" y="4754880"/>
            <a:ext cx="31181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Operations manager, inventory analyst, logistics coordinator</a:t>
            </a:r>
          </a:p>
        </p:txBody>
      </p:sp>
      <p:sp>
        <p:nvSpPr>
          <p:cNvPr id="15" name="Rounded Rectangle 14"/>
          <p:cNvSpPr/>
          <p:nvPr/>
        </p:nvSpPr>
        <p:spPr>
          <a:xfrm>
            <a:off x="4389120" y="4251960"/>
            <a:ext cx="34290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4251960"/>
            <a:ext cx="64008" cy="11430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4370832"/>
            <a:ext cx="31363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Primary outcome</a:t>
            </a:r>
          </a:p>
        </p:txBody>
      </p:sp>
      <p:sp>
        <p:nvSpPr>
          <p:cNvPr id="18" name="TextBox 17"/>
          <p:cNvSpPr txBox="1"/>
          <p:nvPr/>
        </p:nvSpPr>
        <p:spPr>
          <a:xfrm>
            <a:off x="4553712" y="4754880"/>
            <a:ext cx="31181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Faster, evidence-based decisions about delays and stock</a:t>
            </a:r>
          </a:p>
        </p:txBody>
      </p:sp>
      <p:sp>
        <p:nvSpPr>
          <p:cNvPr id="19" name="Rounded Rectangle 18"/>
          <p:cNvSpPr/>
          <p:nvPr/>
        </p:nvSpPr>
        <p:spPr>
          <a:xfrm>
            <a:off x="8046720" y="4251960"/>
            <a:ext cx="34290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4251960"/>
            <a:ext cx="64008" cy="11430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4370832"/>
            <a:ext cx="31363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Project boundary</a:t>
            </a:r>
          </a:p>
        </p:txBody>
      </p:sp>
      <p:sp>
        <p:nvSpPr>
          <p:cNvPr id="22" name="TextBox 21"/>
          <p:cNvSpPr txBox="1"/>
          <p:nvPr/>
        </p:nvSpPr>
        <p:spPr>
          <a:xfrm>
            <a:off x="8211312" y="4754880"/>
            <a:ext cx="31181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Educational portfolio product; not a certified logistics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 Product goals and success criteria</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PRODUCT</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04</a:t>
            </a:r>
          </a:p>
        </p:txBody>
      </p:sp>
      <p:sp>
        <p:nvSpPr>
          <p:cNvPr id="7" name="TextBox 6"/>
          <p:cNvSpPr txBox="1"/>
          <p:nvPr/>
        </p:nvSpPr>
        <p:spPr>
          <a:xfrm>
            <a:off x="731520" y="1325880"/>
            <a:ext cx="5486400" cy="4389120"/>
          </a:xfrm>
          <a:prstGeom prst="rect">
            <a:avLst/>
          </a:prstGeom>
          <a:noFill/>
        </p:spPr>
        <p:txBody>
          <a:bodyPr wrap="square" lIns="109728" rIns="73152" tIns="73152">
            <a:spAutoFit/>
          </a:bodyPr>
          <a:lstStyle/>
          <a:p>
            <a:pPr>
              <a:spcAft>
                <a:spcPts val="500"/>
              </a:spcAft>
              <a:defRPr sz="1700">
                <a:solidFill>
                  <a:srgbClr val="232C38"/>
                </a:solidFill>
                <a:latin typeface="Aptos"/>
              </a:defRPr>
            </a:pPr>
            <a:r>
              <a:t>• Operational: manage orders, products, suppliers, inventory and shipments.</a:t>
            </a:r>
          </a:p>
          <a:p>
            <a:pPr>
              <a:spcAft>
                <a:spcPts val="500"/>
              </a:spcAft>
              <a:defRPr sz="1700">
                <a:solidFill>
                  <a:srgbClr val="232C38"/>
                </a:solidFill>
                <a:latin typeface="Aptos"/>
              </a:defRPr>
            </a:pPr>
            <a:r>
              <a:t>• Data: ingest source files with validation, traceability and safe re-runs.</a:t>
            </a:r>
          </a:p>
          <a:p>
            <a:pPr>
              <a:spcAft>
                <a:spcPts val="500"/>
              </a:spcAft>
              <a:defRPr sz="1700">
                <a:solidFill>
                  <a:srgbClr val="232C38"/>
                </a:solidFill>
                <a:latin typeface="Aptos"/>
              </a:defRPr>
            </a:pPr>
            <a:r>
              <a:t>• Analytics: answer business questions through reproducible SQL metrics.</a:t>
            </a:r>
          </a:p>
          <a:p>
            <a:pPr>
              <a:spcAft>
                <a:spcPts val="500"/>
              </a:spcAft>
              <a:defRPr sz="1700">
                <a:solidFill>
                  <a:srgbClr val="232C38"/>
                </a:solidFill>
                <a:latin typeface="Aptos"/>
              </a:defRPr>
            </a:pPr>
            <a:r>
              <a:t>• Engineering: use clear modules, tests, version control and documented decisions.</a:t>
            </a:r>
          </a:p>
          <a:p>
            <a:pPr>
              <a:spcAft>
                <a:spcPts val="500"/>
              </a:spcAft>
              <a:defRPr sz="1700">
                <a:solidFill>
                  <a:srgbClr val="232C38"/>
                </a:solidFill>
                <a:latin typeface="Aptos"/>
              </a:defRPr>
            </a:pPr>
            <a:r>
              <a:t>• Delivery: deploy a working demo with safe configuration and useful logs.</a:t>
            </a:r>
          </a:p>
        </p:txBody>
      </p:sp>
      <p:sp>
        <p:nvSpPr>
          <p:cNvPr id="8" name="Rounded Rectangle 7"/>
          <p:cNvSpPr/>
          <p:nvPr/>
        </p:nvSpPr>
        <p:spPr>
          <a:xfrm>
            <a:off x="6537960" y="1417320"/>
            <a:ext cx="484632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37960" y="1417320"/>
            <a:ext cx="64008" cy="105156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2552" y="1536192"/>
            <a:ext cx="455371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Success criterion 1</a:t>
            </a:r>
          </a:p>
        </p:txBody>
      </p:sp>
      <p:sp>
        <p:nvSpPr>
          <p:cNvPr id="11" name="TextBox 10"/>
          <p:cNvSpPr txBox="1"/>
          <p:nvPr/>
        </p:nvSpPr>
        <p:spPr>
          <a:xfrm>
            <a:off x="6702552" y="1920240"/>
            <a:ext cx="453542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A user can create an order and track its shipment through the UI.</a:t>
            </a:r>
          </a:p>
        </p:txBody>
      </p:sp>
      <p:sp>
        <p:nvSpPr>
          <p:cNvPr id="12" name="Rounded Rectangle 11"/>
          <p:cNvSpPr/>
          <p:nvPr/>
        </p:nvSpPr>
        <p:spPr>
          <a:xfrm>
            <a:off x="6537960" y="2697480"/>
            <a:ext cx="484632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37960" y="2697480"/>
            <a:ext cx="64008" cy="105156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2816352"/>
            <a:ext cx="455371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Success criterion 2</a:t>
            </a:r>
          </a:p>
        </p:txBody>
      </p:sp>
      <p:sp>
        <p:nvSpPr>
          <p:cNvPr id="15" name="TextBox 14"/>
          <p:cNvSpPr txBox="1"/>
          <p:nvPr/>
        </p:nvSpPr>
        <p:spPr>
          <a:xfrm>
            <a:off x="6702552" y="3200400"/>
            <a:ext cx="453542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A pipeline can reject or quarantine bad records and report why.</a:t>
            </a:r>
          </a:p>
        </p:txBody>
      </p:sp>
      <p:sp>
        <p:nvSpPr>
          <p:cNvPr id="16" name="Rounded Rectangle 15"/>
          <p:cNvSpPr/>
          <p:nvPr/>
        </p:nvSpPr>
        <p:spPr>
          <a:xfrm>
            <a:off x="6537960" y="3977639"/>
            <a:ext cx="484632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37960" y="3977639"/>
            <a:ext cx="64008" cy="105156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02552" y="4096511"/>
            <a:ext cx="455371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Success criterion 3</a:t>
            </a:r>
          </a:p>
        </p:txBody>
      </p:sp>
      <p:sp>
        <p:nvSpPr>
          <p:cNvPr id="19" name="TextBox 18"/>
          <p:cNvSpPr txBox="1"/>
          <p:nvPr/>
        </p:nvSpPr>
        <p:spPr>
          <a:xfrm>
            <a:off x="6702552" y="4480559"/>
            <a:ext cx="453542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Dashboard KPIs reconcile with documented SQL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3. Scope: what we build—and what we postpone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PRODUCT</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05</a:t>
            </a:r>
          </a:p>
        </p:txBody>
      </p:sp>
      <p:sp>
        <p:nvSpPr>
          <p:cNvPr id="7" name="Rounded Rectangle 6"/>
          <p:cNvSpPr/>
          <p:nvPr/>
        </p:nvSpPr>
        <p:spPr>
          <a:xfrm>
            <a:off x="685800" y="1417320"/>
            <a:ext cx="5303520" cy="4297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417320"/>
            <a:ext cx="64008" cy="42976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536192"/>
            <a:ext cx="5010912" cy="320040"/>
          </a:xfrm>
          <a:prstGeom prst="rect">
            <a:avLst/>
          </a:prstGeom>
          <a:noFill/>
        </p:spPr>
        <p:txBody>
          <a:bodyPr wrap="square" lIns="54864" rIns="54864" tIns="54864" bIns="54864" anchor="t">
            <a:spAutoFit/>
          </a:bodyPr>
          <a:lstStyle/>
          <a:p>
            <a:pPr>
              <a:spcAft>
                <a:spcPts val="500"/>
              </a:spcAft>
              <a:defRPr sz="1700" b="1">
                <a:solidFill>
                  <a:srgbClr val="14233C"/>
                </a:solidFill>
                <a:latin typeface="Aptos"/>
              </a:defRPr>
            </a:pPr>
            <a:r>
              <a:t>Build in the core product</a:t>
            </a:r>
          </a:p>
        </p:txBody>
      </p:sp>
      <p:sp>
        <p:nvSpPr>
          <p:cNvPr id="10" name="TextBox 9"/>
          <p:cNvSpPr txBox="1"/>
          <p:nvPr/>
        </p:nvSpPr>
        <p:spPr>
          <a:xfrm>
            <a:off x="850392" y="1920240"/>
            <a:ext cx="4992624" cy="3712464"/>
          </a:xfrm>
          <a:prstGeom prst="rect">
            <a:avLst/>
          </a:prstGeom>
          <a:noFill/>
        </p:spPr>
        <p:txBody>
          <a:bodyPr wrap="square" lIns="54864" rIns="54864" tIns="54864" bIns="54864" anchor="t">
            <a:spAutoFit/>
          </a:bodyPr>
          <a:lstStyle/>
          <a:p>
            <a:pPr>
              <a:spcAft>
                <a:spcPts val="500"/>
              </a:spcAft>
              <a:defRPr sz="1500" b="0">
                <a:solidFill>
                  <a:srgbClr val="232C38"/>
                </a:solidFill>
                <a:latin typeface="Aptos"/>
              </a:defRPr>
            </a:pPr>
            <a:r>
              <a:t>• Order and inventory CRUD</a:t>
            </a:r>
          </a:p>
          <a:p>
            <a:pPr>
              <a:spcAft>
                <a:spcPts val="500"/>
              </a:spcAft>
              <a:defRPr sz="1500" b="0">
                <a:solidFill>
                  <a:srgbClr val="232C38"/>
                </a:solidFill>
                <a:latin typeface="Aptos"/>
              </a:defRPr>
            </a:pPr>
            <a:r>
              <a:t>• Supplier and shipment records</a:t>
            </a:r>
          </a:p>
          <a:p>
            <a:pPr>
              <a:spcAft>
                <a:spcPts val="500"/>
              </a:spcAft>
              <a:defRPr sz="1500" b="0">
                <a:solidFill>
                  <a:srgbClr val="232C38"/>
                </a:solidFill>
                <a:latin typeface="Aptos"/>
              </a:defRPr>
            </a:pPr>
            <a:r>
              <a:t>• REST API and relational database</a:t>
            </a:r>
          </a:p>
          <a:p>
            <a:pPr>
              <a:spcAft>
                <a:spcPts val="500"/>
              </a:spcAft>
              <a:defRPr sz="1500" b="0">
                <a:solidFill>
                  <a:srgbClr val="232C38"/>
                </a:solidFill>
                <a:latin typeface="Aptos"/>
              </a:defRPr>
            </a:pPr>
            <a:r>
              <a:t>• CSV ingestion and data validation</a:t>
            </a:r>
          </a:p>
          <a:p>
            <a:pPr>
              <a:spcAft>
                <a:spcPts val="500"/>
              </a:spcAft>
              <a:defRPr sz="1500" b="0">
                <a:solidFill>
                  <a:srgbClr val="232C38"/>
                </a:solidFill>
                <a:latin typeface="Aptos"/>
              </a:defRPr>
            </a:pPr>
            <a:r>
              <a:t>• SQL analytics and dashboard</a:t>
            </a:r>
          </a:p>
          <a:p>
            <a:pPr>
              <a:spcAft>
                <a:spcPts val="500"/>
              </a:spcAft>
              <a:defRPr sz="1500" b="0">
                <a:solidFill>
                  <a:srgbClr val="232C38"/>
                </a:solidFill>
                <a:latin typeface="Aptos"/>
              </a:defRPr>
            </a:pPr>
            <a:r>
              <a:t>• Authentication and authorization</a:t>
            </a:r>
          </a:p>
          <a:p>
            <a:pPr>
              <a:spcAft>
                <a:spcPts val="500"/>
              </a:spcAft>
              <a:defRPr sz="1500" b="0">
                <a:solidFill>
                  <a:srgbClr val="232C38"/>
                </a:solidFill>
                <a:latin typeface="Aptos"/>
              </a:defRPr>
            </a:pPr>
            <a:r>
              <a:t>• Automated tests and deployment</a:t>
            </a:r>
          </a:p>
        </p:txBody>
      </p:sp>
      <p:sp>
        <p:nvSpPr>
          <p:cNvPr id="11" name="Rounded Rectangle 10"/>
          <p:cNvSpPr/>
          <p:nvPr/>
        </p:nvSpPr>
        <p:spPr>
          <a:xfrm>
            <a:off x="6217920" y="1417320"/>
            <a:ext cx="5303520" cy="4297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17320"/>
            <a:ext cx="64008" cy="42976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36192"/>
            <a:ext cx="5010912" cy="320040"/>
          </a:xfrm>
          <a:prstGeom prst="rect">
            <a:avLst/>
          </a:prstGeom>
          <a:noFill/>
        </p:spPr>
        <p:txBody>
          <a:bodyPr wrap="square" lIns="54864" rIns="54864" tIns="54864" bIns="54864" anchor="t">
            <a:spAutoFit/>
          </a:bodyPr>
          <a:lstStyle/>
          <a:p>
            <a:pPr>
              <a:spcAft>
                <a:spcPts val="500"/>
              </a:spcAft>
              <a:defRPr sz="1700" b="1">
                <a:solidFill>
                  <a:srgbClr val="14233C"/>
                </a:solidFill>
                <a:latin typeface="Aptos"/>
              </a:defRPr>
            </a:pPr>
            <a:r>
              <a:t>Postpone until the foundation works</a:t>
            </a:r>
          </a:p>
        </p:txBody>
      </p:sp>
      <p:sp>
        <p:nvSpPr>
          <p:cNvPr id="14" name="TextBox 13"/>
          <p:cNvSpPr txBox="1"/>
          <p:nvPr/>
        </p:nvSpPr>
        <p:spPr>
          <a:xfrm>
            <a:off x="6382512" y="1920240"/>
            <a:ext cx="4992624" cy="3712464"/>
          </a:xfrm>
          <a:prstGeom prst="rect">
            <a:avLst/>
          </a:prstGeom>
          <a:noFill/>
        </p:spPr>
        <p:txBody>
          <a:bodyPr wrap="square" lIns="54864" rIns="54864" tIns="54864" bIns="54864" anchor="t">
            <a:spAutoFit/>
          </a:bodyPr>
          <a:lstStyle/>
          <a:p>
            <a:pPr>
              <a:spcAft>
                <a:spcPts val="500"/>
              </a:spcAft>
              <a:defRPr sz="1500" b="0">
                <a:solidFill>
                  <a:srgbClr val="232C38"/>
                </a:solidFill>
                <a:latin typeface="Aptos"/>
              </a:defRPr>
            </a:pPr>
            <a:r>
              <a:t>• Kafka or streaming infrastructure</a:t>
            </a:r>
          </a:p>
          <a:p>
            <a:pPr>
              <a:spcAft>
                <a:spcPts val="500"/>
              </a:spcAft>
              <a:defRPr sz="1500" b="0">
                <a:solidFill>
                  <a:srgbClr val="232C38"/>
                </a:solidFill>
                <a:latin typeface="Aptos"/>
              </a:defRPr>
            </a:pPr>
            <a:r>
              <a:t>• Distributed microservices</a:t>
            </a:r>
          </a:p>
          <a:p>
            <a:pPr>
              <a:spcAft>
                <a:spcPts val="500"/>
              </a:spcAft>
              <a:defRPr sz="1500" b="0">
                <a:solidFill>
                  <a:srgbClr val="232C38"/>
                </a:solidFill>
                <a:latin typeface="Aptos"/>
              </a:defRPr>
            </a:pPr>
            <a:r>
              <a:t>• Kubernetes</a:t>
            </a:r>
          </a:p>
          <a:p>
            <a:pPr>
              <a:spcAft>
                <a:spcPts val="500"/>
              </a:spcAft>
              <a:defRPr sz="1500" b="0">
                <a:solidFill>
                  <a:srgbClr val="232C38"/>
                </a:solidFill>
                <a:latin typeface="Aptos"/>
              </a:defRPr>
            </a:pPr>
            <a:r>
              <a:t>• Complex real-time optimization</a:t>
            </a:r>
          </a:p>
          <a:p>
            <a:pPr>
              <a:spcAft>
                <a:spcPts val="500"/>
              </a:spcAft>
              <a:defRPr sz="1500" b="0">
                <a:solidFill>
                  <a:srgbClr val="232C38"/>
                </a:solidFill>
                <a:latin typeface="Aptos"/>
              </a:defRPr>
            </a:pPr>
            <a:r>
              <a:t>• Production-grade forecasting claims</a:t>
            </a:r>
          </a:p>
          <a:p>
            <a:pPr>
              <a:spcAft>
                <a:spcPts val="500"/>
              </a:spcAft>
              <a:defRPr sz="1500" b="0">
                <a:solidFill>
                  <a:srgbClr val="232C38"/>
                </a:solidFill>
                <a:latin typeface="Aptos"/>
              </a:defRPr>
            </a:pPr>
            <a:r>
              <a:t>• Expensive cloud services</a:t>
            </a:r>
          </a:p>
          <a:p>
            <a:pPr>
              <a:spcAft>
                <a:spcPts val="500"/>
              </a:spcAft>
              <a:defRPr sz="1500" b="0">
                <a:solidFill>
                  <a:srgbClr val="232C38"/>
                </a:solidFill>
                <a:latin typeface="Aptos"/>
              </a:defRPr>
            </a:pPr>
            <a:r>
              <a:t>• Any RAG/chatbot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4. Users and main workflows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PRODUCT</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06</a:t>
            </a:r>
          </a:p>
        </p:txBody>
      </p:sp>
      <p:sp>
        <p:nvSpPr>
          <p:cNvPr id="7" name="Rounded Rectangle 6"/>
          <p:cNvSpPr/>
          <p:nvPr/>
        </p:nvSpPr>
        <p:spPr>
          <a:xfrm>
            <a:off x="640080" y="1417320"/>
            <a:ext cx="3566160" cy="3291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64008" cy="32918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536192"/>
            <a:ext cx="327355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Operations manager</a:t>
            </a:r>
          </a:p>
        </p:txBody>
      </p:sp>
      <p:sp>
        <p:nvSpPr>
          <p:cNvPr id="10" name="TextBox 9"/>
          <p:cNvSpPr txBox="1"/>
          <p:nvPr/>
        </p:nvSpPr>
        <p:spPr>
          <a:xfrm>
            <a:off x="804671" y="1920240"/>
            <a:ext cx="3255264" cy="2706624"/>
          </a:xfrm>
          <a:prstGeom prst="rect">
            <a:avLst/>
          </a:prstGeom>
          <a:noFill/>
        </p:spPr>
        <p:txBody>
          <a:bodyPr wrap="square" lIns="54864" rIns="54864" tIns="54864" bIns="54864" anchor="t">
            <a:spAutoFit/>
          </a:bodyPr>
          <a:lstStyle/>
          <a:p>
            <a:pPr>
              <a:spcAft>
                <a:spcPts val="500"/>
              </a:spcAft>
              <a:defRPr sz="1400" b="0">
                <a:solidFill>
                  <a:srgbClr val="232C38"/>
                </a:solidFill>
                <a:latin typeface="Aptos"/>
              </a:defRPr>
            </a:pPr>
            <a:r>
              <a:t>1. Opens the overview</a:t>
            </a:r>
          </a:p>
          <a:p>
            <a:pPr>
              <a:spcAft>
                <a:spcPts val="500"/>
              </a:spcAft>
              <a:defRPr sz="1400" b="0">
                <a:solidFill>
                  <a:srgbClr val="232C38"/>
                </a:solidFill>
                <a:latin typeface="Aptos"/>
              </a:defRPr>
            </a:pPr>
            <a:r>
              <a:t>2. Sees delayed shipments</a:t>
            </a:r>
          </a:p>
          <a:p>
            <a:pPr>
              <a:spcAft>
                <a:spcPts val="500"/>
              </a:spcAft>
              <a:defRPr sz="1400" b="0">
                <a:solidFill>
                  <a:srgbClr val="232C38"/>
                </a:solidFill>
                <a:latin typeface="Aptos"/>
              </a:defRPr>
            </a:pPr>
            <a:r>
              <a:t>3. Filters by warehouse or supplier</a:t>
            </a:r>
          </a:p>
          <a:p>
            <a:pPr>
              <a:spcAft>
                <a:spcPts val="500"/>
              </a:spcAft>
              <a:defRPr sz="1400" b="0">
                <a:solidFill>
                  <a:srgbClr val="232C38"/>
                </a:solidFill>
                <a:latin typeface="Aptos"/>
              </a:defRPr>
            </a:pPr>
            <a:r>
              <a:t>4. Opens an exception</a:t>
            </a:r>
          </a:p>
          <a:p>
            <a:pPr>
              <a:spcAft>
                <a:spcPts val="500"/>
              </a:spcAft>
              <a:defRPr sz="1400" b="0">
                <a:solidFill>
                  <a:srgbClr val="232C38"/>
                </a:solidFill>
                <a:latin typeface="Aptos"/>
              </a:defRPr>
            </a:pPr>
            <a:r>
              <a:t>5. Assigns an owner and tracks resolution</a:t>
            </a:r>
          </a:p>
        </p:txBody>
      </p:sp>
      <p:sp>
        <p:nvSpPr>
          <p:cNvPr id="11" name="Rounded Rectangle 10"/>
          <p:cNvSpPr/>
          <p:nvPr/>
        </p:nvSpPr>
        <p:spPr>
          <a:xfrm>
            <a:off x="4343400" y="1417320"/>
            <a:ext cx="3566160" cy="3291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17320"/>
            <a:ext cx="64008" cy="32918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36192"/>
            <a:ext cx="327355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Inventory analyst</a:t>
            </a:r>
          </a:p>
        </p:txBody>
      </p:sp>
      <p:sp>
        <p:nvSpPr>
          <p:cNvPr id="14" name="TextBox 13"/>
          <p:cNvSpPr txBox="1"/>
          <p:nvPr/>
        </p:nvSpPr>
        <p:spPr>
          <a:xfrm>
            <a:off x="4507992" y="1920240"/>
            <a:ext cx="3255264" cy="2706624"/>
          </a:xfrm>
          <a:prstGeom prst="rect">
            <a:avLst/>
          </a:prstGeom>
          <a:noFill/>
        </p:spPr>
        <p:txBody>
          <a:bodyPr wrap="square" lIns="54864" rIns="54864" tIns="54864" bIns="54864" anchor="t">
            <a:spAutoFit/>
          </a:bodyPr>
          <a:lstStyle/>
          <a:p>
            <a:pPr>
              <a:spcAft>
                <a:spcPts val="500"/>
              </a:spcAft>
              <a:defRPr sz="1400" b="0">
                <a:solidFill>
                  <a:srgbClr val="232C38"/>
                </a:solidFill>
                <a:latin typeface="Aptos"/>
              </a:defRPr>
            </a:pPr>
            <a:r>
              <a:t>1. Reviews stock levels</a:t>
            </a:r>
          </a:p>
          <a:p>
            <a:pPr>
              <a:spcAft>
                <a:spcPts val="500"/>
              </a:spcAft>
              <a:defRPr sz="1400" b="0">
                <a:solidFill>
                  <a:srgbClr val="232C38"/>
                </a:solidFill>
                <a:latin typeface="Aptos"/>
              </a:defRPr>
            </a:pPr>
            <a:r>
              <a:t>2. Checks recent demand</a:t>
            </a:r>
          </a:p>
          <a:p>
            <a:pPr>
              <a:spcAft>
                <a:spcPts val="500"/>
              </a:spcAft>
              <a:defRPr sz="1400" b="0">
                <a:solidFill>
                  <a:srgbClr val="232C38"/>
                </a:solidFill>
                <a:latin typeface="Aptos"/>
              </a:defRPr>
            </a:pPr>
            <a:r>
              <a:t>3. Identifies low-stock products</a:t>
            </a:r>
          </a:p>
          <a:p>
            <a:pPr>
              <a:spcAft>
                <a:spcPts val="500"/>
              </a:spcAft>
              <a:defRPr sz="1400" b="0">
                <a:solidFill>
                  <a:srgbClr val="232C38"/>
                </a:solidFill>
                <a:latin typeface="Aptos"/>
              </a:defRPr>
            </a:pPr>
            <a:r>
              <a:t>4. Reviews replenishment signals</a:t>
            </a:r>
          </a:p>
          <a:p>
            <a:pPr>
              <a:spcAft>
                <a:spcPts val="500"/>
              </a:spcAft>
              <a:defRPr sz="1400" b="0">
                <a:solidFill>
                  <a:srgbClr val="232C38"/>
                </a:solidFill>
                <a:latin typeface="Aptos"/>
              </a:defRPr>
            </a:pPr>
            <a:r>
              <a:t>5. Exports a report</a:t>
            </a:r>
          </a:p>
        </p:txBody>
      </p:sp>
      <p:sp>
        <p:nvSpPr>
          <p:cNvPr id="15" name="Rounded Rectangle 14"/>
          <p:cNvSpPr/>
          <p:nvPr/>
        </p:nvSpPr>
        <p:spPr>
          <a:xfrm>
            <a:off x="8046720" y="1417320"/>
            <a:ext cx="3474720" cy="3291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417320"/>
            <a:ext cx="64008" cy="32918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1536192"/>
            <a:ext cx="318211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Data administrator</a:t>
            </a:r>
          </a:p>
        </p:txBody>
      </p:sp>
      <p:sp>
        <p:nvSpPr>
          <p:cNvPr id="18" name="TextBox 17"/>
          <p:cNvSpPr txBox="1"/>
          <p:nvPr/>
        </p:nvSpPr>
        <p:spPr>
          <a:xfrm>
            <a:off x="8211312" y="1920240"/>
            <a:ext cx="3163824" cy="2706624"/>
          </a:xfrm>
          <a:prstGeom prst="rect">
            <a:avLst/>
          </a:prstGeom>
          <a:noFill/>
        </p:spPr>
        <p:txBody>
          <a:bodyPr wrap="square" lIns="54864" rIns="54864" tIns="54864" bIns="54864" anchor="t">
            <a:spAutoFit/>
          </a:bodyPr>
          <a:lstStyle/>
          <a:p>
            <a:pPr>
              <a:spcAft>
                <a:spcPts val="500"/>
              </a:spcAft>
              <a:defRPr sz="1400" b="0">
                <a:solidFill>
                  <a:srgbClr val="232C38"/>
                </a:solidFill>
                <a:latin typeface="Aptos"/>
              </a:defRPr>
            </a:pPr>
            <a:r>
              <a:t>1. Uploads a source file</a:t>
            </a:r>
          </a:p>
          <a:p>
            <a:pPr>
              <a:spcAft>
                <a:spcPts val="500"/>
              </a:spcAft>
              <a:defRPr sz="1400" b="0">
                <a:solidFill>
                  <a:srgbClr val="232C38"/>
                </a:solidFill>
                <a:latin typeface="Aptos"/>
              </a:defRPr>
            </a:pPr>
            <a:r>
              <a:t>2. Reviews validation results</a:t>
            </a:r>
          </a:p>
          <a:p>
            <a:pPr>
              <a:spcAft>
                <a:spcPts val="500"/>
              </a:spcAft>
              <a:defRPr sz="1400" b="0">
                <a:solidFill>
                  <a:srgbClr val="232C38"/>
                </a:solidFill>
                <a:latin typeface="Aptos"/>
              </a:defRPr>
            </a:pPr>
            <a:r>
              <a:t>3. Starts or retries a pipeline</a:t>
            </a:r>
          </a:p>
          <a:p>
            <a:pPr>
              <a:spcAft>
                <a:spcPts val="500"/>
              </a:spcAft>
              <a:defRPr sz="1400" b="0">
                <a:solidFill>
                  <a:srgbClr val="232C38"/>
                </a:solidFill>
                <a:latin typeface="Aptos"/>
              </a:defRPr>
            </a:pPr>
            <a:r>
              <a:t>4. Inspects failed records</a:t>
            </a:r>
          </a:p>
          <a:p>
            <a:pPr>
              <a:spcAft>
                <a:spcPts val="500"/>
              </a:spcAft>
              <a:defRPr sz="1400" b="0">
                <a:solidFill>
                  <a:srgbClr val="232C38"/>
                </a:solidFill>
                <a:latin typeface="Aptos"/>
              </a:defRPr>
            </a:pPr>
            <a:r>
              <a:t>5. Checks run history and freshness</a:t>
            </a:r>
          </a:p>
        </p:txBody>
      </p:sp>
      <p:sp>
        <p:nvSpPr>
          <p:cNvPr id="19" name="TextBox 18"/>
          <p:cNvSpPr txBox="1"/>
          <p:nvPr/>
        </p:nvSpPr>
        <p:spPr>
          <a:xfrm>
            <a:off x="822960" y="5074920"/>
            <a:ext cx="10424160" cy="548640"/>
          </a:xfrm>
          <a:prstGeom prst="rect">
            <a:avLst/>
          </a:prstGeom>
          <a:noFill/>
        </p:spPr>
        <p:txBody>
          <a:bodyPr wrap="square" lIns="54864" rIns="54864" tIns="54864" bIns="54864" anchor="t">
            <a:spAutoFit/>
          </a:bodyPr>
          <a:lstStyle/>
          <a:p>
            <a:pPr algn="ctr">
              <a:spcAft>
                <a:spcPts val="500"/>
              </a:spcAft>
              <a:defRPr sz="1900" b="1">
                <a:solidFill>
                  <a:srgbClr val="14233C"/>
                </a:solidFill>
                <a:latin typeface="Aptos"/>
              </a:defRPr>
            </a:pPr>
            <a:r>
              <a:t>Design around complete user journeys, not isolated pages.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5. High-level architecture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32688"/>
            <a:ext cx="10972800" cy="384048"/>
          </a:xfrm>
          <a:prstGeom prst="rect">
            <a:avLst/>
          </a:prstGeom>
          <a:noFill/>
        </p:spPr>
        <p:txBody>
          <a:bodyPr wrap="square" lIns="54864" rIns="54864" tIns="54864" bIns="54864" anchor="t">
            <a:spAutoFit/>
          </a:bodyPr>
          <a:lstStyle/>
          <a:p>
            <a:pPr>
              <a:spcAft>
                <a:spcPts val="500"/>
              </a:spcAft>
              <a:defRPr sz="1200" b="0">
                <a:solidFill>
                  <a:srgbClr val="5C6C80"/>
                </a:solidFill>
                <a:latin typeface="Aptos"/>
              </a:defRPr>
            </a:pPr>
            <a:r>
              <a:t>Start as a modular monolith; split components only when a measured need appears.</a:t>
            </a:r>
          </a:p>
        </p:txBody>
      </p:sp>
      <p:sp>
        <p:nvSpPr>
          <p:cNvPr id="5" name="TextBox 4"/>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DESIGN</a:t>
            </a:r>
          </a:p>
        </p:txBody>
      </p:sp>
      <p:sp>
        <p:nvSpPr>
          <p:cNvPr id="6" name="TextBox 5"/>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7" name="TextBox 6"/>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07</a:t>
            </a:r>
          </a:p>
        </p:txBody>
      </p:sp>
      <p:sp>
        <p:nvSpPr>
          <p:cNvPr id="8" name="Rounded Rectangle 7"/>
          <p:cNvSpPr/>
          <p:nvPr/>
        </p:nvSpPr>
        <p:spPr>
          <a:xfrm>
            <a:off x="731520" y="1325880"/>
            <a:ext cx="3383280" cy="1005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25880"/>
            <a:ext cx="64008" cy="10058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4475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Frontend</a:t>
            </a:r>
          </a:p>
        </p:txBody>
      </p:sp>
      <p:sp>
        <p:nvSpPr>
          <p:cNvPr id="11" name="TextBox 10"/>
          <p:cNvSpPr txBox="1"/>
          <p:nvPr/>
        </p:nvSpPr>
        <p:spPr>
          <a:xfrm>
            <a:off x="896112" y="1828800"/>
            <a:ext cx="3072384" cy="420624"/>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React + TypeScript; pages, forms, tables, charts</a:t>
            </a:r>
          </a:p>
        </p:txBody>
      </p:sp>
      <p:sp>
        <p:nvSpPr>
          <p:cNvPr id="12" name="Rounded Rectangle 11"/>
          <p:cNvSpPr/>
          <p:nvPr/>
        </p:nvSpPr>
        <p:spPr>
          <a:xfrm>
            <a:off x="4389120" y="1325880"/>
            <a:ext cx="3383280" cy="1005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25880"/>
            <a:ext cx="64008" cy="10058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44475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Backend API</a:t>
            </a:r>
          </a:p>
        </p:txBody>
      </p:sp>
      <p:sp>
        <p:nvSpPr>
          <p:cNvPr id="15" name="TextBox 14"/>
          <p:cNvSpPr txBox="1"/>
          <p:nvPr/>
        </p:nvSpPr>
        <p:spPr>
          <a:xfrm>
            <a:off x="4553712" y="1828800"/>
            <a:ext cx="3072384" cy="420624"/>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Python + FastAPI; rules, validation, auth</a:t>
            </a:r>
          </a:p>
        </p:txBody>
      </p:sp>
      <p:sp>
        <p:nvSpPr>
          <p:cNvPr id="16" name="Rounded Rectangle 15"/>
          <p:cNvSpPr/>
          <p:nvPr/>
        </p:nvSpPr>
        <p:spPr>
          <a:xfrm>
            <a:off x="8046720" y="1325880"/>
            <a:ext cx="3383280" cy="1005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25880"/>
            <a:ext cx="64008" cy="10058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44475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Database</a:t>
            </a:r>
          </a:p>
        </p:txBody>
      </p:sp>
      <p:sp>
        <p:nvSpPr>
          <p:cNvPr id="19" name="TextBox 18"/>
          <p:cNvSpPr txBox="1"/>
          <p:nvPr/>
        </p:nvSpPr>
        <p:spPr>
          <a:xfrm>
            <a:off x="8211312" y="1828800"/>
            <a:ext cx="3072384" cy="420624"/>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PostgreSQL; transactional records and analytics</a:t>
            </a:r>
          </a:p>
        </p:txBody>
      </p:sp>
      <p:sp>
        <p:nvSpPr>
          <p:cNvPr id="20" name="TextBox 19"/>
          <p:cNvSpPr txBox="1"/>
          <p:nvPr/>
        </p:nvSpPr>
        <p:spPr>
          <a:xfrm>
            <a:off x="3977639" y="1664208"/>
            <a:ext cx="365760" cy="274320"/>
          </a:xfrm>
          <a:prstGeom prst="rect">
            <a:avLst/>
          </a:prstGeom>
          <a:noFill/>
        </p:spPr>
        <p:txBody>
          <a:bodyPr wrap="square" lIns="54864" rIns="54864" tIns="54864" bIns="54864" anchor="t">
            <a:spAutoFit/>
          </a:bodyPr>
          <a:lstStyle/>
          <a:p>
            <a:pPr algn="ctr">
              <a:spcAft>
                <a:spcPts val="500"/>
              </a:spcAft>
              <a:defRPr sz="2000" b="1">
                <a:solidFill>
                  <a:srgbClr val="5C6C80"/>
                </a:solidFill>
                <a:latin typeface="Aptos"/>
              </a:defRPr>
            </a:pPr>
            <a:r>
              <a:t>→</a:t>
            </a:r>
          </a:p>
        </p:txBody>
      </p:sp>
      <p:sp>
        <p:nvSpPr>
          <p:cNvPr id="21" name="TextBox 20"/>
          <p:cNvSpPr txBox="1"/>
          <p:nvPr/>
        </p:nvSpPr>
        <p:spPr>
          <a:xfrm>
            <a:off x="7635240" y="1664208"/>
            <a:ext cx="365760" cy="274320"/>
          </a:xfrm>
          <a:prstGeom prst="rect">
            <a:avLst/>
          </a:prstGeom>
          <a:noFill/>
        </p:spPr>
        <p:txBody>
          <a:bodyPr wrap="square" lIns="54864" rIns="54864" tIns="54864" bIns="54864" anchor="t">
            <a:spAutoFit/>
          </a:bodyPr>
          <a:lstStyle/>
          <a:p>
            <a:pPr algn="ctr">
              <a:spcAft>
                <a:spcPts val="500"/>
              </a:spcAft>
              <a:defRPr sz="2000" b="1">
                <a:solidFill>
                  <a:srgbClr val="5C6C80"/>
                </a:solidFill>
                <a:latin typeface="Aptos"/>
              </a:defRPr>
            </a:pPr>
            <a:r>
              <a:t>→</a:t>
            </a:r>
          </a:p>
        </p:txBody>
      </p:sp>
      <p:sp>
        <p:nvSpPr>
          <p:cNvPr id="22" name="Rounded Rectangle 21"/>
          <p:cNvSpPr/>
          <p:nvPr/>
        </p:nvSpPr>
        <p:spPr>
          <a:xfrm>
            <a:off x="731520" y="2880360"/>
            <a:ext cx="338328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2880360"/>
            <a:ext cx="64008" cy="1234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299923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Data pipeline</a:t>
            </a:r>
          </a:p>
        </p:txBody>
      </p:sp>
      <p:sp>
        <p:nvSpPr>
          <p:cNvPr id="25" name="TextBox 24"/>
          <p:cNvSpPr txBox="1"/>
          <p:nvPr/>
        </p:nvSpPr>
        <p:spPr>
          <a:xfrm>
            <a:off x="896112" y="3383280"/>
            <a:ext cx="307238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CSV/API source → validate → transform → load</a:t>
            </a:r>
          </a:p>
        </p:txBody>
      </p:sp>
      <p:sp>
        <p:nvSpPr>
          <p:cNvPr id="26" name="Rounded Rectangle 25"/>
          <p:cNvSpPr/>
          <p:nvPr/>
        </p:nvSpPr>
        <p:spPr>
          <a:xfrm>
            <a:off x="4389120" y="2880360"/>
            <a:ext cx="338328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2880360"/>
            <a:ext cx="64008" cy="1234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299923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Analytics layer</a:t>
            </a:r>
          </a:p>
        </p:txBody>
      </p:sp>
      <p:sp>
        <p:nvSpPr>
          <p:cNvPr id="29" name="TextBox 28"/>
          <p:cNvSpPr txBox="1"/>
          <p:nvPr/>
        </p:nvSpPr>
        <p:spPr>
          <a:xfrm>
            <a:off x="4553712" y="3383280"/>
            <a:ext cx="307238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SQL views, KPI queries, reporting endpoints</a:t>
            </a:r>
          </a:p>
        </p:txBody>
      </p:sp>
      <p:sp>
        <p:nvSpPr>
          <p:cNvPr id="30" name="Rounded Rectangle 29"/>
          <p:cNvSpPr/>
          <p:nvPr/>
        </p:nvSpPr>
        <p:spPr>
          <a:xfrm>
            <a:off x="8046720" y="2880360"/>
            <a:ext cx="338328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20" y="2880360"/>
            <a:ext cx="64008" cy="1234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2" y="2999232"/>
            <a:ext cx="309067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Operations</a:t>
            </a:r>
          </a:p>
        </p:txBody>
      </p:sp>
      <p:sp>
        <p:nvSpPr>
          <p:cNvPr id="33" name="TextBox 32"/>
          <p:cNvSpPr txBox="1"/>
          <p:nvPr/>
        </p:nvSpPr>
        <p:spPr>
          <a:xfrm>
            <a:off x="8211312" y="3383280"/>
            <a:ext cx="307238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Tests, logs, Docker, CI/CD, deployment</a:t>
            </a:r>
          </a:p>
        </p:txBody>
      </p:sp>
      <p:sp>
        <p:nvSpPr>
          <p:cNvPr id="34" name="TextBox 33"/>
          <p:cNvSpPr txBox="1"/>
          <p:nvPr/>
        </p:nvSpPr>
        <p:spPr>
          <a:xfrm>
            <a:off x="868680" y="4754880"/>
            <a:ext cx="10515600" cy="822960"/>
          </a:xfrm>
          <a:prstGeom prst="rect">
            <a:avLst/>
          </a:prstGeom>
          <a:noFill/>
        </p:spPr>
        <p:txBody>
          <a:bodyPr wrap="square" lIns="54864" rIns="54864" tIns="54864" bIns="54864" anchor="t">
            <a:spAutoFit/>
          </a:bodyPr>
          <a:lstStyle/>
          <a:p>
            <a:pPr algn="ctr">
              <a:spcAft>
                <a:spcPts val="500"/>
              </a:spcAft>
              <a:defRPr sz="1600" b="0">
                <a:solidFill>
                  <a:srgbClr val="232C38"/>
                </a:solidFill>
                <a:latin typeface="Aptos"/>
              </a:defRPr>
            </a:pPr>
            <a:r>
              <a:t>Data flows into the application through controlled ingestion. Users work through the API and frontend. Analytics are derived from validated, traceable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6. Beginner glossary: the pieces of a web app</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LEARN</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08</a:t>
            </a:r>
          </a:p>
        </p:txBody>
      </p:sp>
      <p:sp>
        <p:nvSpPr>
          <p:cNvPr id="7" name="Rounded Rectangle 6"/>
          <p:cNvSpPr/>
          <p:nvPr/>
        </p:nvSpPr>
        <p:spPr>
          <a:xfrm>
            <a:off x="685800" y="132588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64008" cy="11430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4475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Frontend</a:t>
            </a:r>
          </a:p>
        </p:txBody>
      </p:sp>
      <p:sp>
        <p:nvSpPr>
          <p:cNvPr id="10" name="TextBox 9"/>
          <p:cNvSpPr txBox="1"/>
          <p:nvPr/>
        </p:nvSpPr>
        <p:spPr>
          <a:xfrm>
            <a:off x="850392" y="182880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What the user sees and interacts with.</a:t>
            </a:r>
          </a:p>
        </p:txBody>
      </p:sp>
      <p:sp>
        <p:nvSpPr>
          <p:cNvPr id="11" name="Rounded Rectangle 10"/>
          <p:cNvSpPr/>
          <p:nvPr/>
        </p:nvSpPr>
        <p:spPr>
          <a:xfrm>
            <a:off x="6355080" y="132588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325880"/>
            <a:ext cx="64008" cy="11430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44475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Backend</a:t>
            </a:r>
          </a:p>
        </p:txBody>
      </p:sp>
      <p:sp>
        <p:nvSpPr>
          <p:cNvPr id="14" name="TextBox 13"/>
          <p:cNvSpPr txBox="1"/>
          <p:nvPr/>
        </p:nvSpPr>
        <p:spPr>
          <a:xfrm>
            <a:off x="6519672" y="182880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Server-side logic that applies rules and coordinates work.</a:t>
            </a:r>
          </a:p>
        </p:txBody>
      </p:sp>
      <p:sp>
        <p:nvSpPr>
          <p:cNvPr id="15" name="Rounded Rectangle 14"/>
          <p:cNvSpPr/>
          <p:nvPr/>
        </p:nvSpPr>
        <p:spPr>
          <a:xfrm>
            <a:off x="685800" y="274320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2743200"/>
            <a:ext cx="64008" cy="11430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86207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API</a:t>
            </a:r>
          </a:p>
        </p:txBody>
      </p:sp>
      <p:sp>
        <p:nvSpPr>
          <p:cNvPr id="18" name="TextBox 17"/>
          <p:cNvSpPr txBox="1"/>
          <p:nvPr/>
        </p:nvSpPr>
        <p:spPr>
          <a:xfrm>
            <a:off x="850392" y="324612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A defined way for software components to request and return data.</a:t>
            </a:r>
          </a:p>
        </p:txBody>
      </p:sp>
      <p:sp>
        <p:nvSpPr>
          <p:cNvPr id="19" name="Rounded Rectangle 18"/>
          <p:cNvSpPr/>
          <p:nvPr/>
        </p:nvSpPr>
        <p:spPr>
          <a:xfrm>
            <a:off x="6355080" y="274320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2743200"/>
            <a:ext cx="64008" cy="11430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286207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Database</a:t>
            </a:r>
          </a:p>
        </p:txBody>
      </p:sp>
      <p:sp>
        <p:nvSpPr>
          <p:cNvPr id="22" name="TextBox 21"/>
          <p:cNvSpPr txBox="1"/>
          <p:nvPr/>
        </p:nvSpPr>
        <p:spPr>
          <a:xfrm>
            <a:off x="6519672" y="324612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Persistent storage that remains after the app stops.</a:t>
            </a:r>
          </a:p>
        </p:txBody>
      </p:sp>
      <p:sp>
        <p:nvSpPr>
          <p:cNvPr id="23" name="Rounded Rectangle 22"/>
          <p:cNvSpPr/>
          <p:nvPr/>
        </p:nvSpPr>
        <p:spPr>
          <a:xfrm>
            <a:off x="685800" y="416052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160520"/>
            <a:ext cx="64008" cy="11430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 y="427939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ETL/ELT</a:t>
            </a:r>
          </a:p>
        </p:txBody>
      </p:sp>
      <p:sp>
        <p:nvSpPr>
          <p:cNvPr id="26" name="TextBox 25"/>
          <p:cNvSpPr txBox="1"/>
          <p:nvPr/>
        </p:nvSpPr>
        <p:spPr>
          <a:xfrm>
            <a:off x="850392" y="466344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Extract, transform and load data—or load first, then transform.</a:t>
            </a:r>
          </a:p>
        </p:txBody>
      </p:sp>
      <p:sp>
        <p:nvSpPr>
          <p:cNvPr id="27" name="Rounded Rectangle 26"/>
          <p:cNvSpPr/>
          <p:nvPr/>
        </p:nvSpPr>
        <p:spPr>
          <a:xfrm>
            <a:off x="6355080" y="4160520"/>
            <a:ext cx="5257800" cy="11430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55080" y="4160520"/>
            <a:ext cx="64008" cy="11430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9672" y="4279392"/>
            <a:ext cx="496519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Deployment</a:t>
            </a:r>
          </a:p>
        </p:txBody>
      </p:sp>
      <p:sp>
        <p:nvSpPr>
          <p:cNvPr id="30" name="TextBox 29"/>
          <p:cNvSpPr txBox="1"/>
          <p:nvPr/>
        </p:nvSpPr>
        <p:spPr>
          <a:xfrm>
            <a:off x="6519672" y="4663440"/>
            <a:ext cx="4946904" cy="55778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Making a tested application available in a target environment.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7. SDLC: the project lifecycle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ENGINEERING</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09</a:t>
            </a:r>
          </a:p>
        </p:txBody>
      </p:sp>
      <p:sp>
        <p:nvSpPr>
          <p:cNvPr id="7" name="Rounded Rectangle 6"/>
          <p:cNvSpPr/>
          <p:nvPr/>
        </p:nvSpPr>
        <p:spPr>
          <a:xfrm>
            <a:off x="502920"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64008" cy="196596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Discover</a:t>
            </a:r>
          </a:p>
        </p:txBody>
      </p:sp>
      <p:sp>
        <p:nvSpPr>
          <p:cNvPr id="10" name="TextBox 9"/>
          <p:cNvSpPr txBox="1"/>
          <p:nvPr/>
        </p:nvSpPr>
        <p:spPr>
          <a:xfrm>
            <a:off x="667512"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Problem, users, goals</a:t>
            </a:r>
          </a:p>
        </p:txBody>
      </p:sp>
      <p:sp>
        <p:nvSpPr>
          <p:cNvPr id="11" name="TextBox 10"/>
          <p:cNvSpPr txBox="1"/>
          <p:nvPr/>
        </p:nvSpPr>
        <p:spPr>
          <a:xfrm>
            <a:off x="1984248"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12" name="Rounded Rectangle 11"/>
          <p:cNvSpPr/>
          <p:nvPr/>
        </p:nvSpPr>
        <p:spPr>
          <a:xfrm>
            <a:off x="2167128"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67128" y="1828800"/>
            <a:ext cx="64008" cy="196596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Specify</a:t>
            </a:r>
          </a:p>
        </p:txBody>
      </p:sp>
      <p:sp>
        <p:nvSpPr>
          <p:cNvPr id="15" name="TextBox 14"/>
          <p:cNvSpPr txBox="1"/>
          <p:nvPr/>
        </p:nvSpPr>
        <p:spPr>
          <a:xfrm>
            <a:off x="2331720"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Requirements, acceptance criteria</a:t>
            </a:r>
          </a:p>
        </p:txBody>
      </p:sp>
      <p:sp>
        <p:nvSpPr>
          <p:cNvPr id="16" name="TextBox 15"/>
          <p:cNvSpPr txBox="1"/>
          <p:nvPr/>
        </p:nvSpPr>
        <p:spPr>
          <a:xfrm>
            <a:off x="3648456"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17" name="Rounded Rectangle 16"/>
          <p:cNvSpPr/>
          <p:nvPr/>
        </p:nvSpPr>
        <p:spPr>
          <a:xfrm>
            <a:off x="3831336"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31336" y="1828800"/>
            <a:ext cx="64008" cy="196596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95928"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Design</a:t>
            </a:r>
          </a:p>
        </p:txBody>
      </p:sp>
      <p:sp>
        <p:nvSpPr>
          <p:cNvPr id="20" name="TextBox 19"/>
          <p:cNvSpPr txBox="1"/>
          <p:nvPr/>
        </p:nvSpPr>
        <p:spPr>
          <a:xfrm>
            <a:off x="3995928"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Architecture, schema, API contracts</a:t>
            </a:r>
          </a:p>
        </p:txBody>
      </p:sp>
      <p:sp>
        <p:nvSpPr>
          <p:cNvPr id="21" name="TextBox 20"/>
          <p:cNvSpPr txBox="1"/>
          <p:nvPr/>
        </p:nvSpPr>
        <p:spPr>
          <a:xfrm>
            <a:off x="5312664"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22" name="Rounded Rectangle 21"/>
          <p:cNvSpPr/>
          <p:nvPr/>
        </p:nvSpPr>
        <p:spPr>
          <a:xfrm>
            <a:off x="5495544"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95544" y="1828800"/>
            <a:ext cx="64008" cy="196596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0136"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Build</a:t>
            </a:r>
          </a:p>
        </p:txBody>
      </p:sp>
      <p:sp>
        <p:nvSpPr>
          <p:cNvPr id="25" name="TextBox 24"/>
          <p:cNvSpPr txBox="1"/>
          <p:nvPr/>
        </p:nvSpPr>
        <p:spPr>
          <a:xfrm>
            <a:off x="5660136"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Small, reviewable code changes</a:t>
            </a:r>
          </a:p>
        </p:txBody>
      </p:sp>
      <p:sp>
        <p:nvSpPr>
          <p:cNvPr id="26" name="TextBox 25"/>
          <p:cNvSpPr txBox="1"/>
          <p:nvPr/>
        </p:nvSpPr>
        <p:spPr>
          <a:xfrm>
            <a:off x="6976872"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27" name="Rounded Rectangle 26"/>
          <p:cNvSpPr/>
          <p:nvPr/>
        </p:nvSpPr>
        <p:spPr>
          <a:xfrm>
            <a:off x="7159752"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59752" y="1828800"/>
            <a:ext cx="64008" cy="196596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24344"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Verify</a:t>
            </a:r>
          </a:p>
        </p:txBody>
      </p:sp>
      <p:sp>
        <p:nvSpPr>
          <p:cNvPr id="30" name="TextBox 29"/>
          <p:cNvSpPr txBox="1"/>
          <p:nvPr/>
        </p:nvSpPr>
        <p:spPr>
          <a:xfrm>
            <a:off x="7324344"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Unit, integration, end-to-end tests</a:t>
            </a:r>
          </a:p>
        </p:txBody>
      </p:sp>
      <p:sp>
        <p:nvSpPr>
          <p:cNvPr id="31" name="TextBox 30"/>
          <p:cNvSpPr txBox="1"/>
          <p:nvPr/>
        </p:nvSpPr>
        <p:spPr>
          <a:xfrm>
            <a:off x="8641080"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32" name="Rounded Rectangle 31"/>
          <p:cNvSpPr/>
          <p:nvPr/>
        </p:nvSpPr>
        <p:spPr>
          <a:xfrm>
            <a:off x="8823960"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23960" y="1828800"/>
            <a:ext cx="64008" cy="196596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88552"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Release</a:t>
            </a:r>
          </a:p>
        </p:txBody>
      </p:sp>
      <p:sp>
        <p:nvSpPr>
          <p:cNvPr id="35" name="TextBox 34"/>
          <p:cNvSpPr txBox="1"/>
          <p:nvPr/>
        </p:nvSpPr>
        <p:spPr>
          <a:xfrm>
            <a:off x="8988552"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CI checks and deployment</a:t>
            </a:r>
          </a:p>
        </p:txBody>
      </p:sp>
      <p:sp>
        <p:nvSpPr>
          <p:cNvPr id="36" name="TextBox 35"/>
          <p:cNvSpPr txBox="1"/>
          <p:nvPr/>
        </p:nvSpPr>
        <p:spPr>
          <a:xfrm>
            <a:off x="10305288" y="2514600"/>
            <a:ext cx="182880"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37" name="Rounded Rectangle 36"/>
          <p:cNvSpPr/>
          <p:nvPr/>
        </p:nvSpPr>
        <p:spPr>
          <a:xfrm>
            <a:off x="10488168" y="1828800"/>
            <a:ext cx="1481328"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488168" y="1828800"/>
            <a:ext cx="64008" cy="1965960"/>
          </a:xfrm>
          <a:prstGeom prst="rect">
            <a:avLst/>
          </a:prstGeom>
          <a:solidFill>
            <a:srgbClr val="3791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52760" y="1947672"/>
            <a:ext cx="1188720"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Operate</a:t>
            </a:r>
          </a:p>
        </p:txBody>
      </p:sp>
      <p:sp>
        <p:nvSpPr>
          <p:cNvPr id="40" name="TextBox 39"/>
          <p:cNvSpPr txBox="1"/>
          <p:nvPr/>
        </p:nvSpPr>
        <p:spPr>
          <a:xfrm>
            <a:off x="10652760" y="2331720"/>
            <a:ext cx="1170432" cy="1380743"/>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Logs, incidents, improvements</a:t>
            </a:r>
          </a:p>
        </p:txBody>
      </p:sp>
      <p:sp>
        <p:nvSpPr>
          <p:cNvPr id="41" name="TextBox 40"/>
          <p:cNvSpPr txBox="1"/>
          <p:nvPr/>
        </p:nvSpPr>
        <p:spPr>
          <a:xfrm>
            <a:off x="777240" y="4389120"/>
            <a:ext cx="10698480" cy="914400"/>
          </a:xfrm>
          <a:prstGeom prst="rect">
            <a:avLst/>
          </a:prstGeom>
          <a:noFill/>
        </p:spPr>
        <p:txBody>
          <a:bodyPr wrap="square" lIns="54864" rIns="54864" tIns="54864" bIns="54864" anchor="t">
            <a:spAutoFit/>
          </a:bodyPr>
          <a:lstStyle/>
          <a:p>
            <a:pPr algn="ctr">
              <a:spcAft>
                <a:spcPts val="500"/>
              </a:spcAft>
              <a:defRPr sz="1600" b="0">
                <a:solidFill>
                  <a:srgbClr val="232C38"/>
                </a:solidFill>
                <a:latin typeface="Aptos"/>
              </a:defRPr>
            </a:pPr>
            <a:r>
              <a:t>SDLC is not a one-time waterfall. In an iterative workflow, feedback from testing and users sends you back to refine requirements, design or implementation.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8. GitHub: create the repository first</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GIT &amp; GITHUB</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10</a:t>
            </a:r>
          </a:p>
        </p:txBody>
      </p:sp>
      <p:sp>
        <p:nvSpPr>
          <p:cNvPr id="7" name="TextBox 6"/>
          <p:cNvSpPr txBox="1"/>
          <p:nvPr/>
        </p:nvSpPr>
        <p:spPr>
          <a:xfrm>
            <a:off x="685800" y="1280160"/>
            <a:ext cx="5486400" cy="438912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1. Create a GitHub repository named supplychain-sentinel.</a:t>
            </a:r>
          </a:p>
          <a:p>
            <a:pPr>
              <a:spcAft>
                <a:spcPts val="500"/>
              </a:spcAft>
              <a:defRPr sz="1600">
                <a:solidFill>
                  <a:srgbClr val="232C38"/>
                </a:solidFill>
                <a:latin typeface="Aptos"/>
              </a:defRPr>
            </a:pPr>
            <a:r>
              <a:t>• 2. Use a clear description: Full-stack supply-chain operations and data intelligence platform.</a:t>
            </a:r>
          </a:p>
          <a:p>
            <a:pPr>
              <a:spcAft>
                <a:spcPts val="500"/>
              </a:spcAft>
              <a:defRPr sz="1600">
                <a:solidFill>
                  <a:srgbClr val="232C38"/>
                </a:solidFill>
                <a:latin typeface="Aptos"/>
              </a:defRPr>
            </a:pPr>
            <a:r>
              <a:t>• 3. Choose Public if you want it visible to recruiters; do not commit secrets or private data.</a:t>
            </a:r>
          </a:p>
          <a:p>
            <a:pPr>
              <a:spcAft>
                <a:spcPts val="500"/>
              </a:spcAft>
              <a:defRPr sz="1600">
                <a:solidFill>
                  <a:srgbClr val="232C38"/>
                </a:solidFill>
                <a:latin typeface="Aptos"/>
              </a:defRPr>
            </a:pPr>
            <a:r>
              <a:t>• 4. Initialize with a README and a Python-focused .gitignore.</a:t>
            </a:r>
          </a:p>
          <a:p>
            <a:pPr>
              <a:spcAft>
                <a:spcPts val="500"/>
              </a:spcAft>
              <a:defRPr sz="1600">
                <a:solidFill>
                  <a:srgbClr val="232C38"/>
                </a:solidFill>
                <a:latin typeface="Aptos"/>
              </a:defRPr>
            </a:pPr>
            <a:r>
              <a:t>• 5. Clone it to your computer and open the folder in VS Code.</a:t>
            </a:r>
          </a:p>
          <a:p>
            <a:pPr>
              <a:spcAft>
                <a:spcPts val="500"/>
              </a:spcAft>
              <a:defRPr sz="1600">
                <a:solidFill>
                  <a:srgbClr val="232C38"/>
                </a:solidFill>
                <a:latin typeface="Aptos"/>
              </a:defRPr>
            </a:pPr>
            <a:r>
              <a:t>• 6. Make small commits with meaningful messages.</a:t>
            </a:r>
          </a:p>
        </p:txBody>
      </p:sp>
      <p:sp>
        <p:nvSpPr>
          <p:cNvPr id="8" name="Rounded Rectangle 7"/>
          <p:cNvSpPr/>
          <p:nvPr/>
        </p:nvSpPr>
        <p:spPr>
          <a:xfrm>
            <a:off x="6400800" y="1508760"/>
            <a:ext cx="4983480" cy="237744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1618488"/>
            <a:ext cx="4654296" cy="2176272"/>
          </a:xfrm>
          <a:prstGeom prst="rect">
            <a:avLst/>
          </a:prstGeom>
          <a:noFill/>
        </p:spPr>
        <p:txBody>
          <a:bodyPr wrap="square" lIns="0" rIns="0" tIns="0" bIns="0">
            <a:spAutoFit/>
          </a:bodyPr>
          <a:lstStyle/>
          <a:p>
            <a:pPr>
              <a:spcAft>
                <a:spcPts val="100"/>
              </a:spcAft>
              <a:defRPr sz="1300">
                <a:solidFill>
                  <a:srgbClr val="E0EBF6"/>
                </a:solidFill>
                <a:latin typeface="Consolas"/>
              </a:defRPr>
            </a:pPr>
            <a:r>
              <a:t>git clone &lt;YOUR_REPOSITORY_URL&gt;</a:t>
            </a:r>
          </a:p>
          <a:p>
            <a:pPr>
              <a:spcAft>
                <a:spcPts val="100"/>
              </a:spcAft>
              <a:defRPr sz="1300">
                <a:solidFill>
                  <a:srgbClr val="E0EBF6"/>
                </a:solidFill>
                <a:latin typeface="Consolas"/>
              </a:defRPr>
            </a:pPr>
            <a:r>
              <a:t>cd supplychain-sentinel</a:t>
            </a:r>
          </a:p>
          <a:p>
            <a:pPr>
              <a:spcAft>
                <a:spcPts val="100"/>
              </a:spcAft>
              <a:defRPr sz="1300">
                <a:solidFill>
                  <a:srgbClr val="E0EBF6"/>
                </a:solidFill>
                <a:latin typeface="Consolas"/>
              </a:defRPr>
            </a:pPr>
            <a:r>
              <a:t>git status</a:t>
            </a:r>
          </a:p>
          <a:p>
            <a:pPr>
              <a:spcAft>
                <a:spcPts val="100"/>
              </a:spcAft>
              <a:defRPr sz="1300">
                <a:solidFill>
                  <a:srgbClr val="E0EBF6"/>
                </a:solidFill>
                <a:latin typeface="Consolas"/>
              </a:defRPr>
            </a:pPr>
            <a:r>
              <a:t>git switch -c chore/project-scaffold</a:t>
            </a:r>
          </a:p>
        </p:txBody>
      </p:sp>
      <p:sp>
        <p:nvSpPr>
          <p:cNvPr id="10" name="TextBox 9"/>
          <p:cNvSpPr txBox="1"/>
          <p:nvPr/>
        </p:nvSpPr>
        <p:spPr>
          <a:xfrm>
            <a:off x="6492240" y="4160520"/>
            <a:ext cx="4663440" cy="109728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Git = version history on your computer.</a:t>
            </a:r>
          </a:p>
          <a:p>
            <a:pPr>
              <a:spcAft>
                <a:spcPts val="500"/>
              </a:spcAft>
              <a:defRPr sz="1400" b="1">
                <a:solidFill>
                  <a:srgbClr val="14233C"/>
                </a:solidFill>
                <a:latin typeface="Aptos"/>
              </a:defRPr>
            </a:pPr>
            <a:r>
              <a:t>GitHub = hosted repository and collaboration platform.</a:t>
            </a:r>
          </a:p>
          <a:p>
            <a:pPr>
              <a:spcAft>
                <a:spcPts val="500"/>
              </a:spcAft>
              <a:defRPr sz="1400" b="1">
                <a:solidFill>
                  <a:srgbClr val="14233C"/>
                </a:solidFill>
                <a:latin typeface="Aptos"/>
              </a:defRPr>
            </a:pPr>
            <a:r>
              <a:t>A commit is a saved checkpoint.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9. The daily Git workflow</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GIT &amp; GITHUB</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11</a:t>
            </a:r>
          </a:p>
        </p:txBody>
      </p:sp>
      <p:sp>
        <p:nvSpPr>
          <p:cNvPr id="7" name="Rounded Rectangle 6"/>
          <p:cNvSpPr/>
          <p:nvPr/>
        </p:nvSpPr>
        <p:spPr>
          <a:xfrm>
            <a:off x="731520" y="1417320"/>
            <a:ext cx="5486400" cy="31089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27048"/>
            <a:ext cx="5157216" cy="2907791"/>
          </a:xfrm>
          <a:prstGeom prst="rect">
            <a:avLst/>
          </a:prstGeom>
          <a:noFill/>
        </p:spPr>
        <p:txBody>
          <a:bodyPr wrap="square" lIns="0" rIns="0" tIns="0" bIns="0">
            <a:spAutoFit/>
          </a:bodyPr>
          <a:lstStyle/>
          <a:p>
            <a:pPr>
              <a:spcAft>
                <a:spcPts val="100"/>
              </a:spcAft>
              <a:defRPr sz="1400">
                <a:solidFill>
                  <a:srgbClr val="E0EBF6"/>
                </a:solidFill>
                <a:latin typeface="Consolas"/>
              </a:defRPr>
            </a:pPr>
            <a:r>
              <a:t>git status</a:t>
            </a:r>
          </a:p>
          <a:p>
            <a:pPr>
              <a:spcAft>
                <a:spcPts val="100"/>
              </a:spcAft>
              <a:defRPr sz="1400">
                <a:solidFill>
                  <a:srgbClr val="E0EBF6"/>
                </a:solidFill>
                <a:latin typeface="Consolas"/>
              </a:defRPr>
            </a:pPr>
            <a:r>
              <a:t>git switch -c feat/orders-api</a:t>
            </a:r>
          </a:p>
          <a:p>
            <a:pPr>
              <a:spcAft>
                <a:spcPts val="100"/>
              </a:spcAft>
              <a:defRPr sz="1400">
                <a:solidFill>
                  <a:srgbClr val="E0EBF6"/>
                </a:solidFill>
                <a:latin typeface="Consolas"/>
              </a:defRPr>
            </a:pPr>
            <a:r>
              <a:t># edit and test files</a:t>
            </a:r>
          </a:p>
          <a:p>
            <a:pPr>
              <a:spcAft>
                <a:spcPts val="100"/>
              </a:spcAft>
              <a:defRPr sz="1400">
                <a:solidFill>
                  <a:srgbClr val="E0EBF6"/>
                </a:solidFill>
                <a:latin typeface="Consolas"/>
              </a:defRPr>
            </a:pPr>
          </a:p>
          <a:p>
            <a:pPr>
              <a:spcAft>
                <a:spcPts val="100"/>
              </a:spcAft>
              <a:defRPr sz="1400">
                <a:solidFill>
                  <a:srgbClr val="E0EBF6"/>
                </a:solidFill>
                <a:latin typeface="Consolas"/>
              </a:defRPr>
            </a:pPr>
            <a:r>
              <a:t>git add .</a:t>
            </a:r>
          </a:p>
          <a:p>
            <a:pPr>
              <a:spcAft>
                <a:spcPts val="100"/>
              </a:spcAft>
              <a:defRPr sz="1400">
                <a:solidFill>
                  <a:srgbClr val="E0EBF6"/>
                </a:solidFill>
                <a:latin typeface="Consolas"/>
              </a:defRPr>
            </a:pPr>
            <a:r>
              <a:t>git commit -m "feat: add order API"</a:t>
            </a:r>
          </a:p>
          <a:p>
            <a:pPr>
              <a:spcAft>
                <a:spcPts val="100"/>
              </a:spcAft>
              <a:defRPr sz="1400">
                <a:solidFill>
                  <a:srgbClr val="E0EBF6"/>
                </a:solidFill>
                <a:latin typeface="Consolas"/>
              </a:defRPr>
            </a:pPr>
            <a:r>
              <a:t>git push -u origin feat/orders-api</a:t>
            </a:r>
          </a:p>
          <a:p>
            <a:pPr>
              <a:spcAft>
                <a:spcPts val="100"/>
              </a:spcAft>
              <a:defRPr sz="1400">
                <a:solidFill>
                  <a:srgbClr val="E0EBF6"/>
                </a:solidFill>
                <a:latin typeface="Consolas"/>
              </a:defRPr>
            </a:pPr>
            <a:r>
              <a:t># open a Pull Request on GitHub</a:t>
            </a:r>
          </a:p>
        </p:txBody>
      </p:sp>
      <p:sp>
        <p:nvSpPr>
          <p:cNvPr id="9" name="Rounded Rectangle 8"/>
          <p:cNvSpPr/>
          <p:nvPr/>
        </p:nvSpPr>
        <p:spPr>
          <a:xfrm>
            <a:off x="6629400" y="1417320"/>
            <a:ext cx="457200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9400" y="1417320"/>
            <a:ext cx="64008" cy="1234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93992" y="1536192"/>
            <a:ext cx="42793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Branch</a:t>
            </a:r>
          </a:p>
        </p:txBody>
      </p:sp>
      <p:sp>
        <p:nvSpPr>
          <p:cNvPr id="12" name="TextBox 11"/>
          <p:cNvSpPr txBox="1"/>
          <p:nvPr/>
        </p:nvSpPr>
        <p:spPr>
          <a:xfrm>
            <a:off x="6793992" y="1920240"/>
            <a:ext cx="426110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A separate line of work for one feature or fix.</a:t>
            </a:r>
          </a:p>
        </p:txBody>
      </p:sp>
      <p:sp>
        <p:nvSpPr>
          <p:cNvPr id="13" name="Rounded Rectangle 12"/>
          <p:cNvSpPr/>
          <p:nvPr/>
        </p:nvSpPr>
        <p:spPr>
          <a:xfrm>
            <a:off x="6629400" y="2834640"/>
            <a:ext cx="457200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9400" y="2834640"/>
            <a:ext cx="64008" cy="1234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3992" y="2953512"/>
            <a:ext cx="42793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Commit</a:t>
            </a:r>
          </a:p>
        </p:txBody>
      </p:sp>
      <p:sp>
        <p:nvSpPr>
          <p:cNvPr id="16" name="TextBox 15"/>
          <p:cNvSpPr txBox="1"/>
          <p:nvPr/>
        </p:nvSpPr>
        <p:spPr>
          <a:xfrm>
            <a:off x="6793992" y="3337560"/>
            <a:ext cx="426110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A named checkpoint that explains a focused change.</a:t>
            </a:r>
          </a:p>
        </p:txBody>
      </p:sp>
      <p:sp>
        <p:nvSpPr>
          <p:cNvPr id="17" name="Rounded Rectangle 16"/>
          <p:cNvSpPr/>
          <p:nvPr/>
        </p:nvSpPr>
        <p:spPr>
          <a:xfrm>
            <a:off x="6629400" y="4251960"/>
            <a:ext cx="457200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9400" y="4251960"/>
            <a:ext cx="64008" cy="1234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93992" y="4370832"/>
            <a:ext cx="42793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Pull Request</a:t>
            </a:r>
          </a:p>
        </p:txBody>
      </p:sp>
      <p:sp>
        <p:nvSpPr>
          <p:cNvPr id="20" name="TextBox 19"/>
          <p:cNvSpPr txBox="1"/>
          <p:nvPr/>
        </p:nvSpPr>
        <p:spPr>
          <a:xfrm>
            <a:off x="6793992" y="4754880"/>
            <a:ext cx="4261104" cy="6492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A reviewable proposal to merge changes into the main branch.</a:t>
            </a:r>
          </a:p>
        </p:txBody>
      </p:sp>
      <p:sp>
        <p:nvSpPr>
          <p:cNvPr id="21" name="TextBox 20"/>
          <p:cNvSpPr txBox="1"/>
          <p:nvPr/>
        </p:nvSpPr>
        <p:spPr>
          <a:xfrm>
            <a:off x="868680" y="5074920"/>
            <a:ext cx="5120640" cy="411480"/>
          </a:xfrm>
          <a:prstGeom prst="rect">
            <a:avLst/>
          </a:prstGeom>
          <a:noFill/>
        </p:spPr>
        <p:txBody>
          <a:bodyPr wrap="square" lIns="54864" rIns="54864" tIns="54864" bIns="54864" anchor="t">
            <a:spAutoFit/>
          </a:bodyPr>
          <a:lstStyle/>
          <a:p>
            <a:pPr>
              <a:spcAft>
                <a:spcPts val="500"/>
              </a:spcAft>
              <a:defRPr sz="1200" b="1">
                <a:solidFill>
                  <a:srgbClr val="BE4646"/>
                </a:solidFill>
                <a:latin typeface="Aptos"/>
              </a:defRPr>
            </a:pPr>
            <a:r>
              <a:t>Never commit passwords, API keys, .env files or sensitive raw datasets.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10. Recommended repository structure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GIT &amp; GITHUB</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12</a:t>
            </a:r>
          </a:p>
        </p:txBody>
      </p:sp>
      <p:sp>
        <p:nvSpPr>
          <p:cNvPr id="7" name="Rounded Rectangle 6"/>
          <p:cNvSpPr/>
          <p:nvPr/>
        </p:nvSpPr>
        <p:spPr>
          <a:xfrm>
            <a:off x="777240" y="1325880"/>
            <a:ext cx="5806440" cy="489204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435607"/>
            <a:ext cx="5477255" cy="4690872"/>
          </a:xfrm>
          <a:prstGeom prst="rect">
            <a:avLst/>
          </a:prstGeom>
          <a:noFill/>
        </p:spPr>
        <p:txBody>
          <a:bodyPr wrap="square" lIns="0" rIns="0" tIns="0" bIns="0">
            <a:spAutoFit/>
          </a:bodyPr>
          <a:lstStyle/>
          <a:p>
            <a:pPr>
              <a:spcAft>
                <a:spcPts val="100"/>
              </a:spcAft>
              <a:defRPr sz="1100">
                <a:solidFill>
                  <a:srgbClr val="E0EBF6"/>
                </a:solidFill>
                <a:latin typeface="Consolas"/>
              </a:defRPr>
            </a:pPr>
            <a:r>
              <a:t>supplychain-sentinel/</a:t>
            </a:r>
          </a:p>
          <a:p>
            <a:pPr>
              <a:spcAft>
                <a:spcPts val="100"/>
              </a:spcAft>
              <a:defRPr sz="1100">
                <a:solidFill>
                  <a:srgbClr val="E0EBF6"/>
                </a:solidFill>
                <a:latin typeface="Consolas"/>
              </a:defRPr>
            </a:pPr>
            <a:r>
              <a:t>├── README.md</a:t>
            </a:r>
          </a:p>
          <a:p>
            <a:pPr>
              <a:spcAft>
                <a:spcPts val="100"/>
              </a:spcAft>
              <a:defRPr sz="1100">
                <a:solidFill>
                  <a:srgbClr val="E0EBF6"/>
                </a:solidFill>
                <a:latin typeface="Consolas"/>
              </a:defRPr>
            </a:pPr>
            <a:r>
              <a:t>├── LICENSE</a:t>
            </a:r>
          </a:p>
          <a:p>
            <a:pPr>
              <a:spcAft>
                <a:spcPts val="100"/>
              </a:spcAft>
              <a:defRPr sz="1100">
                <a:solidFill>
                  <a:srgbClr val="E0EBF6"/>
                </a:solidFill>
                <a:latin typeface="Consolas"/>
              </a:defRPr>
            </a:pPr>
            <a:r>
              <a:t>├── .gitignore</a:t>
            </a:r>
          </a:p>
          <a:p>
            <a:pPr>
              <a:spcAft>
                <a:spcPts val="100"/>
              </a:spcAft>
              <a:defRPr sz="1100">
                <a:solidFill>
                  <a:srgbClr val="E0EBF6"/>
                </a:solidFill>
                <a:latin typeface="Consolas"/>
              </a:defRPr>
            </a:pPr>
            <a:r>
              <a:t>├── .env.example</a:t>
            </a:r>
          </a:p>
          <a:p>
            <a:pPr>
              <a:spcAft>
                <a:spcPts val="100"/>
              </a:spcAft>
              <a:defRPr sz="1100">
                <a:solidFill>
                  <a:srgbClr val="E0EBF6"/>
                </a:solidFill>
                <a:latin typeface="Consolas"/>
              </a:defRPr>
            </a:pPr>
            <a:r>
              <a:t>├── pyproject.toml</a:t>
            </a:r>
          </a:p>
          <a:p>
            <a:pPr>
              <a:spcAft>
                <a:spcPts val="100"/>
              </a:spcAft>
              <a:defRPr sz="1100">
                <a:solidFill>
                  <a:srgbClr val="E0EBF6"/>
                </a:solidFill>
                <a:latin typeface="Consolas"/>
              </a:defRPr>
            </a:pPr>
            <a:r>
              <a:t>├── docker-compose.yml</a:t>
            </a:r>
          </a:p>
          <a:p>
            <a:pPr>
              <a:spcAft>
                <a:spcPts val="100"/>
              </a:spcAft>
              <a:defRPr sz="1100">
                <a:solidFill>
                  <a:srgbClr val="E0EBF6"/>
                </a:solidFill>
                <a:latin typeface="Consolas"/>
              </a:defRPr>
            </a:pPr>
            <a:r>
              <a:t>├── docs/</a:t>
            </a:r>
          </a:p>
          <a:p>
            <a:pPr>
              <a:spcAft>
                <a:spcPts val="100"/>
              </a:spcAft>
              <a:defRPr sz="1100">
                <a:solidFill>
                  <a:srgbClr val="E0EBF6"/>
                </a:solidFill>
                <a:latin typeface="Consolas"/>
              </a:defRPr>
            </a:pPr>
            <a:r>
              <a:t>│   ├── project-blueprint.pptx</a:t>
            </a:r>
          </a:p>
          <a:p>
            <a:pPr>
              <a:spcAft>
                <a:spcPts val="100"/>
              </a:spcAft>
              <a:defRPr sz="1100">
                <a:solidFill>
                  <a:srgbClr val="E0EBF6"/>
                </a:solidFill>
                <a:latin typeface="Consolas"/>
              </a:defRPr>
            </a:pPr>
            <a:r>
              <a:t>│   ├── requirements.md</a:t>
            </a:r>
          </a:p>
          <a:p>
            <a:pPr>
              <a:spcAft>
                <a:spcPts val="100"/>
              </a:spcAft>
              <a:defRPr sz="1100">
                <a:solidFill>
                  <a:srgbClr val="E0EBF6"/>
                </a:solidFill>
                <a:latin typeface="Consolas"/>
              </a:defRPr>
            </a:pPr>
            <a:r>
              <a:t>│   ├── architecture.md</a:t>
            </a:r>
          </a:p>
          <a:p>
            <a:pPr>
              <a:spcAft>
                <a:spcPts val="100"/>
              </a:spcAft>
              <a:defRPr sz="1100">
                <a:solidFill>
                  <a:srgbClr val="E0EBF6"/>
                </a:solidFill>
                <a:latin typeface="Consolas"/>
              </a:defRPr>
            </a:pPr>
            <a:r>
              <a:t>│   ├── database-design.md</a:t>
            </a:r>
          </a:p>
          <a:p>
            <a:pPr>
              <a:spcAft>
                <a:spcPts val="100"/>
              </a:spcAft>
              <a:defRPr sz="1100">
                <a:solidFill>
                  <a:srgbClr val="E0EBF6"/>
                </a:solidFill>
                <a:latin typeface="Consolas"/>
              </a:defRPr>
            </a:pPr>
            <a:r>
              <a:t>│   ├── api-contracts.md</a:t>
            </a:r>
          </a:p>
          <a:p>
            <a:pPr>
              <a:spcAft>
                <a:spcPts val="100"/>
              </a:spcAft>
              <a:defRPr sz="1100">
                <a:solidFill>
                  <a:srgbClr val="E0EBF6"/>
                </a:solidFill>
                <a:latin typeface="Consolas"/>
              </a:defRPr>
            </a:pPr>
            <a:r>
              <a:t>│   ├── decisions/          # ADRs</a:t>
            </a:r>
          </a:p>
          <a:p>
            <a:pPr>
              <a:spcAft>
                <a:spcPts val="100"/>
              </a:spcAft>
              <a:defRPr sz="1100">
                <a:solidFill>
                  <a:srgbClr val="E0EBF6"/>
                </a:solidFill>
                <a:latin typeface="Consolas"/>
              </a:defRPr>
            </a:pPr>
            <a:r>
              <a:t>│   └── runbooks/</a:t>
            </a:r>
          </a:p>
          <a:p>
            <a:pPr>
              <a:spcAft>
                <a:spcPts val="100"/>
              </a:spcAft>
              <a:defRPr sz="1100">
                <a:solidFill>
                  <a:srgbClr val="E0EBF6"/>
                </a:solidFill>
                <a:latin typeface="Consolas"/>
              </a:defRPr>
            </a:pPr>
            <a:r>
              <a:t>├── frontend/</a:t>
            </a:r>
          </a:p>
          <a:p>
            <a:pPr>
              <a:spcAft>
                <a:spcPts val="100"/>
              </a:spcAft>
              <a:defRPr sz="1100">
                <a:solidFill>
                  <a:srgbClr val="E0EBF6"/>
                </a:solidFill>
                <a:latin typeface="Consolas"/>
              </a:defRPr>
            </a:pPr>
            <a:r>
              <a:t>├── backend/</a:t>
            </a:r>
          </a:p>
          <a:p>
            <a:pPr>
              <a:spcAft>
                <a:spcPts val="100"/>
              </a:spcAft>
              <a:defRPr sz="1100">
                <a:solidFill>
                  <a:srgbClr val="E0EBF6"/>
                </a:solidFill>
                <a:latin typeface="Consolas"/>
              </a:defRPr>
            </a:pPr>
            <a:r>
              <a:t>│   ├── app/</a:t>
            </a:r>
          </a:p>
          <a:p>
            <a:pPr>
              <a:spcAft>
                <a:spcPts val="100"/>
              </a:spcAft>
              <a:defRPr sz="1100">
                <a:solidFill>
                  <a:srgbClr val="E0EBF6"/>
                </a:solidFill>
                <a:latin typeface="Consolas"/>
              </a:defRPr>
            </a:pPr>
            <a:r>
              <a:t>│   │   ├── api/</a:t>
            </a:r>
          </a:p>
          <a:p>
            <a:pPr>
              <a:spcAft>
                <a:spcPts val="100"/>
              </a:spcAft>
              <a:defRPr sz="1100">
                <a:solidFill>
                  <a:srgbClr val="E0EBF6"/>
                </a:solidFill>
                <a:latin typeface="Consolas"/>
              </a:defRPr>
            </a:pPr>
            <a:r>
              <a:t>│   │   ├── core/</a:t>
            </a:r>
          </a:p>
          <a:p>
            <a:pPr>
              <a:spcAft>
                <a:spcPts val="100"/>
              </a:spcAft>
              <a:defRPr sz="1100">
                <a:solidFill>
                  <a:srgbClr val="E0EBF6"/>
                </a:solidFill>
                <a:latin typeface="Consolas"/>
              </a:defRPr>
            </a:pPr>
            <a:r>
              <a:t>│   │   ├── models/</a:t>
            </a:r>
          </a:p>
          <a:p>
            <a:pPr>
              <a:spcAft>
                <a:spcPts val="100"/>
              </a:spcAft>
              <a:defRPr sz="1100">
                <a:solidFill>
                  <a:srgbClr val="E0EBF6"/>
                </a:solidFill>
                <a:latin typeface="Consolas"/>
              </a:defRPr>
            </a:pPr>
            <a:r>
              <a:t>│   │   ├── schemas/</a:t>
            </a:r>
          </a:p>
          <a:p>
            <a:pPr>
              <a:spcAft>
                <a:spcPts val="100"/>
              </a:spcAft>
              <a:defRPr sz="1100">
                <a:solidFill>
                  <a:srgbClr val="E0EBF6"/>
                </a:solidFill>
                <a:latin typeface="Consolas"/>
              </a:defRPr>
            </a:pPr>
            <a:r>
              <a:t>│   │   ├── services/</a:t>
            </a:r>
          </a:p>
          <a:p>
            <a:pPr>
              <a:spcAft>
                <a:spcPts val="100"/>
              </a:spcAft>
              <a:defRPr sz="1100">
                <a:solidFill>
                  <a:srgbClr val="E0EBF6"/>
                </a:solidFill>
                <a:latin typeface="Consolas"/>
              </a:defRPr>
            </a:pPr>
            <a:r>
              <a:t>│   │   └── main.py</a:t>
            </a:r>
          </a:p>
          <a:p>
            <a:pPr>
              <a:spcAft>
                <a:spcPts val="100"/>
              </a:spcAft>
              <a:defRPr sz="1100">
                <a:solidFill>
                  <a:srgbClr val="E0EBF6"/>
                </a:solidFill>
                <a:latin typeface="Consolas"/>
              </a:defRPr>
            </a:pPr>
            <a:r>
              <a:t>│   └── tests/</a:t>
            </a:r>
          </a:p>
          <a:p>
            <a:pPr>
              <a:spcAft>
                <a:spcPts val="100"/>
              </a:spcAft>
              <a:defRPr sz="1100">
                <a:solidFill>
                  <a:srgbClr val="E0EBF6"/>
                </a:solidFill>
                <a:latin typeface="Consolas"/>
              </a:defRPr>
            </a:pPr>
            <a:r>
              <a:t>├── data_pipeline/</a:t>
            </a:r>
          </a:p>
          <a:p>
            <a:pPr>
              <a:spcAft>
                <a:spcPts val="100"/>
              </a:spcAft>
              <a:defRPr sz="1100">
                <a:solidFill>
                  <a:srgbClr val="E0EBF6"/>
                </a:solidFill>
                <a:latin typeface="Consolas"/>
              </a:defRPr>
            </a:pPr>
            <a:r>
              <a:t>│   ├── ingestion/</a:t>
            </a:r>
          </a:p>
          <a:p>
            <a:pPr>
              <a:spcAft>
                <a:spcPts val="100"/>
              </a:spcAft>
              <a:defRPr sz="1100">
                <a:solidFill>
                  <a:srgbClr val="E0EBF6"/>
                </a:solidFill>
                <a:latin typeface="Consolas"/>
              </a:defRPr>
            </a:pPr>
            <a:r>
              <a:t>│   ├── validation/</a:t>
            </a:r>
          </a:p>
          <a:p>
            <a:pPr>
              <a:spcAft>
                <a:spcPts val="100"/>
              </a:spcAft>
              <a:defRPr sz="1100">
                <a:solidFill>
                  <a:srgbClr val="E0EBF6"/>
                </a:solidFill>
                <a:latin typeface="Consolas"/>
              </a:defRPr>
            </a:pPr>
            <a:r>
              <a:t>│   ├── transformations/</a:t>
            </a:r>
          </a:p>
          <a:p>
            <a:pPr>
              <a:spcAft>
                <a:spcPts val="100"/>
              </a:spcAft>
              <a:defRPr sz="1100">
                <a:solidFill>
                  <a:srgbClr val="E0EBF6"/>
                </a:solidFill>
                <a:latin typeface="Consolas"/>
              </a:defRPr>
            </a:pPr>
            <a:r>
              <a:t>│   └── jobs/</a:t>
            </a:r>
          </a:p>
          <a:p>
            <a:pPr>
              <a:spcAft>
                <a:spcPts val="100"/>
              </a:spcAft>
              <a:defRPr sz="1100">
                <a:solidFill>
                  <a:srgbClr val="E0EBF6"/>
                </a:solidFill>
                <a:latin typeface="Consolas"/>
              </a:defRPr>
            </a:pPr>
            <a:r>
              <a:t>├── analytics/</a:t>
            </a:r>
          </a:p>
          <a:p>
            <a:pPr>
              <a:spcAft>
                <a:spcPts val="100"/>
              </a:spcAft>
              <a:defRPr sz="1100">
                <a:solidFill>
                  <a:srgbClr val="E0EBF6"/>
                </a:solidFill>
                <a:latin typeface="Consolas"/>
              </a:defRPr>
            </a:pPr>
            <a:r>
              <a:t>│   ├── sql/</a:t>
            </a:r>
          </a:p>
          <a:p>
            <a:pPr>
              <a:spcAft>
                <a:spcPts val="100"/>
              </a:spcAft>
              <a:defRPr sz="1100">
                <a:solidFill>
                  <a:srgbClr val="E0EBF6"/>
                </a:solidFill>
                <a:latin typeface="Consolas"/>
              </a:defRPr>
            </a:pPr>
            <a:r>
              <a:t>│   └── notebooks/</a:t>
            </a:r>
          </a:p>
          <a:p>
            <a:pPr>
              <a:spcAft>
                <a:spcPts val="100"/>
              </a:spcAft>
              <a:defRPr sz="1100">
                <a:solidFill>
                  <a:srgbClr val="E0EBF6"/>
                </a:solidFill>
                <a:latin typeface="Consolas"/>
              </a:defRPr>
            </a:pPr>
            <a:r>
              <a:t>├── sample_data/</a:t>
            </a:r>
          </a:p>
          <a:p>
            <a:pPr>
              <a:spcAft>
                <a:spcPts val="100"/>
              </a:spcAft>
              <a:defRPr sz="1100">
                <a:solidFill>
                  <a:srgbClr val="E0EBF6"/>
                </a:solidFill>
                <a:latin typeface="Consolas"/>
              </a:defRPr>
            </a:pPr>
            <a:r>
              <a:t>└── .github/workflows/</a:t>
            </a:r>
          </a:p>
        </p:txBody>
      </p:sp>
      <p:sp>
        <p:nvSpPr>
          <p:cNvPr id="9" name="TextBox 8"/>
          <p:cNvSpPr txBox="1"/>
          <p:nvPr/>
        </p:nvSpPr>
        <p:spPr>
          <a:xfrm>
            <a:off x="6903720" y="1417320"/>
            <a:ext cx="4480560" cy="4389120"/>
          </a:xfrm>
          <a:prstGeom prst="rect">
            <a:avLst/>
          </a:prstGeom>
          <a:noFill/>
        </p:spPr>
        <p:txBody>
          <a:bodyPr wrap="square" lIns="109728" rIns="73152" tIns="73152">
            <a:spAutoFit/>
          </a:bodyPr>
          <a:lstStyle/>
          <a:p>
            <a:pPr>
              <a:spcAft>
                <a:spcPts val="500"/>
              </a:spcAft>
              <a:defRPr sz="1400">
                <a:solidFill>
                  <a:srgbClr val="232C38"/>
                </a:solidFill>
                <a:latin typeface="Aptos"/>
              </a:defRPr>
            </a:pPr>
            <a:r>
              <a:t>• docs/ project documentation and diagrams.</a:t>
            </a:r>
          </a:p>
          <a:p>
            <a:pPr>
              <a:spcAft>
                <a:spcPts val="500"/>
              </a:spcAft>
              <a:defRPr sz="1400">
                <a:solidFill>
                  <a:srgbClr val="232C38"/>
                </a:solidFill>
                <a:latin typeface="Aptos"/>
              </a:defRPr>
            </a:pPr>
            <a:r>
              <a:t>• frontend/ browser-facing interface.</a:t>
            </a:r>
          </a:p>
          <a:p>
            <a:pPr>
              <a:spcAft>
                <a:spcPts val="500"/>
              </a:spcAft>
              <a:defRPr sz="1400">
                <a:solidFill>
                  <a:srgbClr val="232C38"/>
                </a:solidFill>
                <a:latin typeface="Aptos"/>
              </a:defRPr>
            </a:pPr>
            <a:r>
              <a:t>• backend/ API and business rules.</a:t>
            </a:r>
          </a:p>
          <a:p>
            <a:pPr>
              <a:spcAft>
                <a:spcPts val="500"/>
              </a:spcAft>
              <a:defRPr sz="1400">
                <a:solidFill>
                  <a:srgbClr val="232C38"/>
                </a:solidFill>
                <a:latin typeface="Aptos"/>
              </a:defRPr>
            </a:pPr>
            <a:r>
              <a:t>• data_pipeline/ repeatable data workflows.</a:t>
            </a:r>
          </a:p>
          <a:p>
            <a:pPr>
              <a:spcAft>
                <a:spcPts val="500"/>
              </a:spcAft>
              <a:defRPr sz="1400">
                <a:solidFill>
                  <a:srgbClr val="232C38"/>
                </a:solidFill>
                <a:latin typeface="Aptos"/>
              </a:defRPr>
            </a:pPr>
            <a:r>
              <a:t>• analytics/ SQL and analytical experiments.</a:t>
            </a:r>
          </a:p>
          <a:p>
            <a:pPr>
              <a:spcAft>
                <a:spcPts val="500"/>
              </a:spcAft>
              <a:defRPr sz="1400">
                <a:solidFill>
                  <a:srgbClr val="232C38"/>
                </a:solidFill>
                <a:latin typeface="Aptos"/>
              </a:defRPr>
            </a:pPr>
            <a:r>
              <a:t>• tests/ automated checks near the relevant code.</a:t>
            </a:r>
          </a:p>
          <a:p>
            <a:pPr>
              <a:spcAft>
                <a:spcPts val="500"/>
              </a:spcAft>
              <a:defRPr sz="1400">
                <a:solidFill>
                  <a:srgbClr val="232C38"/>
                </a:solidFill>
                <a:latin typeface="Aptos"/>
              </a:defRPr>
            </a:pPr>
            <a:r>
              <a:t>• sample_data/ small, safe examples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11. Requirements and acceptance criteria</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DESIGN</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13</a:t>
            </a:r>
          </a:p>
        </p:txBody>
      </p:sp>
      <p:sp>
        <p:nvSpPr>
          <p:cNvPr id="7" name="Rounded Rectangle 6"/>
          <p:cNvSpPr/>
          <p:nvPr/>
        </p:nvSpPr>
        <p:spPr>
          <a:xfrm>
            <a:off x="685800" y="1325880"/>
            <a:ext cx="534924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64008" cy="18288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44752"/>
            <a:ext cx="5056631"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Functional requirement</a:t>
            </a:r>
          </a:p>
        </p:txBody>
      </p:sp>
      <p:sp>
        <p:nvSpPr>
          <p:cNvPr id="10" name="TextBox 9"/>
          <p:cNvSpPr txBox="1"/>
          <p:nvPr/>
        </p:nvSpPr>
        <p:spPr>
          <a:xfrm>
            <a:off x="850392" y="1828800"/>
            <a:ext cx="5038344" cy="1243584"/>
          </a:xfrm>
          <a:prstGeom prst="rect">
            <a:avLst/>
          </a:prstGeom>
          <a:noFill/>
        </p:spPr>
        <p:txBody>
          <a:bodyPr wrap="square" lIns="54864" rIns="54864" tIns="54864" bIns="54864" anchor="t">
            <a:spAutoFit/>
          </a:bodyPr>
          <a:lstStyle/>
          <a:p>
            <a:pPr>
              <a:spcAft>
                <a:spcPts val="500"/>
              </a:spcAft>
              <a:defRPr sz="1400" b="0">
                <a:solidFill>
                  <a:srgbClr val="232C38"/>
                </a:solidFill>
                <a:latin typeface="Aptos"/>
              </a:defRPr>
            </a:pPr>
            <a:r>
              <a:t>Example: a user can create a shipment, assign it to an order, record status events and view its timeline.</a:t>
            </a:r>
          </a:p>
        </p:txBody>
      </p:sp>
      <p:sp>
        <p:nvSpPr>
          <p:cNvPr id="11" name="Rounded Rectangle 10"/>
          <p:cNvSpPr/>
          <p:nvPr/>
        </p:nvSpPr>
        <p:spPr>
          <a:xfrm>
            <a:off x="6217920" y="1325880"/>
            <a:ext cx="525780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64008" cy="18288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444752"/>
            <a:ext cx="496519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Non-functional requirement</a:t>
            </a:r>
          </a:p>
        </p:txBody>
      </p:sp>
      <p:sp>
        <p:nvSpPr>
          <p:cNvPr id="14" name="TextBox 13"/>
          <p:cNvSpPr txBox="1"/>
          <p:nvPr/>
        </p:nvSpPr>
        <p:spPr>
          <a:xfrm>
            <a:off x="6382512" y="1828800"/>
            <a:ext cx="4946904" cy="1243584"/>
          </a:xfrm>
          <a:prstGeom prst="rect">
            <a:avLst/>
          </a:prstGeom>
          <a:noFill/>
        </p:spPr>
        <p:txBody>
          <a:bodyPr wrap="square" lIns="54864" rIns="54864" tIns="54864" bIns="54864" anchor="t">
            <a:spAutoFit/>
          </a:bodyPr>
          <a:lstStyle/>
          <a:p>
            <a:pPr>
              <a:spcAft>
                <a:spcPts val="500"/>
              </a:spcAft>
              <a:defRPr sz="1400" b="0">
                <a:solidFill>
                  <a:srgbClr val="232C38"/>
                </a:solidFill>
                <a:latin typeface="Aptos"/>
              </a:defRPr>
            </a:pPr>
            <a:r>
              <a:t>Example: invalid requests return clear errors; database credentials are not exposed; important API paths have tests.</a:t>
            </a:r>
          </a:p>
        </p:txBody>
      </p:sp>
      <p:sp>
        <p:nvSpPr>
          <p:cNvPr id="15" name="TextBox 14"/>
          <p:cNvSpPr txBox="1"/>
          <p:nvPr/>
        </p:nvSpPr>
        <p:spPr>
          <a:xfrm>
            <a:off x="777240" y="3566160"/>
            <a:ext cx="10698480" cy="457200"/>
          </a:xfrm>
          <a:prstGeom prst="rect">
            <a:avLst/>
          </a:prstGeom>
          <a:noFill/>
        </p:spPr>
        <p:txBody>
          <a:bodyPr wrap="square" lIns="54864" rIns="54864" tIns="54864" bIns="54864" anchor="t">
            <a:spAutoFit/>
          </a:bodyPr>
          <a:lstStyle/>
          <a:p>
            <a:pPr>
              <a:spcAft>
                <a:spcPts val="500"/>
              </a:spcAft>
              <a:defRPr sz="1800" b="1">
                <a:solidFill>
                  <a:srgbClr val="14233C"/>
                </a:solidFill>
                <a:latin typeface="Aptos"/>
              </a:defRPr>
            </a:pPr>
            <a:r>
              <a:t>Write acceptance criteria before implementing a feature.</a:t>
            </a:r>
          </a:p>
        </p:txBody>
      </p:sp>
      <p:sp>
        <p:nvSpPr>
          <p:cNvPr id="16" name="TextBox 15"/>
          <p:cNvSpPr txBox="1"/>
          <p:nvPr/>
        </p:nvSpPr>
        <p:spPr>
          <a:xfrm>
            <a:off x="914400" y="4069080"/>
            <a:ext cx="10241280" cy="1554480"/>
          </a:xfrm>
          <a:prstGeom prst="rect">
            <a:avLst/>
          </a:prstGeom>
          <a:noFill/>
        </p:spPr>
        <p:txBody>
          <a:bodyPr wrap="square" lIns="109728" rIns="73152" tIns="73152">
            <a:spAutoFit/>
          </a:bodyPr>
          <a:lstStyle/>
          <a:p>
            <a:pPr>
              <a:spcAft>
                <a:spcPts val="500"/>
              </a:spcAft>
              <a:defRPr sz="1400">
                <a:solidFill>
                  <a:srgbClr val="232C38"/>
                </a:solidFill>
                <a:latin typeface="Aptos"/>
              </a:defRPr>
            </a:pPr>
            <a:r>
              <a:t>• Given a valid shipment payload, when it is submitted, then the API stores it and returns its identifier.</a:t>
            </a:r>
          </a:p>
          <a:p>
            <a:pPr>
              <a:spcAft>
                <a:spcPts val="500"/>
              </a:spcAft>
              <a:defRPr sz="1400">
                <a:solidFill>
                  <a:srgbClr val="232C38"/>
                </a:solidFill>
                <a:latin typeface="Aptos"/>
              </a:defRPr>
            </a:pPr>
            <a:r>
              <a:t>• Given a missing required field, when it is submitted, then the API returns a validation error.</a:t>
            </a:r>
          </a:p>
          <a:p>
            <a:pPr>
              <a:spcAft>
                <a:spcPts val="500"/>
              </a:spcAft>
              <a:defRPr sz="1400">
                <a:solidFill>
                  <a:srgbClr val="232C38"/>
                </a:solidFill>
                <a:latin typeface="Aptos"/>
              </a:defRPr>
            </a:pPr>
            <a:r>
              <a:t>• Given a shipment ID that does not exist, when it is requested, then the API returns a not-found response.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12. Database learning path</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DATABASE</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14</a:t>
            </a:r>
          </a:p>
        </p:txBody>
      </p:sp>
      <p:sp>
        <p:nvSpPr>
          <p:cNvPr id="7" name="TextBox 6"/>
          <p:cNvSpPr txBox="1"/>
          <p:nvPr/>
        </p:nvSpPr>
        <p:spPr>
          <a:xfrm>
            <a:off x="685800" y="1325880"/>
            <a:ext cx="5394960" cy="448056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Start with SQL: SELECT, WHERE, ORDER BY, GROUP BY and JOIN.</a:t>
            </a:r>
          </a:p>
          <a:p>
            <a:pPr>
              <a:spcAft>
                <a:spcPts val="500"/>
              </a:spcAft>
              <a:defRPr sz="1600">
                <a:solidFill>
                  <a:srgbClr val="232C38"/>
                </a:solidFill>
                <a:latin typeface="Aptos"/>
              </a:defRPr>
            </a:pPr>
            <a:r>
              <a:t>• Learn relational design: primary keys, foreign keys, constraints and relationships.</a:t>
            </a:r>
          </a:p>
          <a:p>
            <a:pPr>
              <a:spcAft>
                <a:spcPts val="500"/>
              </a:spcAft>
              <a:defRPr sz="1600">
                <a:solidFill>
                  <a:srgbClr val="232C38"/>
                </a:solidFill>
                <a:latin typeface="Aptos"/>
              </a:defRPr>
            </a:pPr>
            <a:r>
              <a:t>• Learn correctness: transactions, isolation and safe updates.</a:t>
            </a:r>
          </a:p>
          <a:p>
            <a:pPr>
              <a:spcAft>
                <a:spcPts val="500"/>
              </a:spcAft>
              <a:defRPr sz="1600">
                <a:solidFill>
                  <a:srgbClr val="232C38"/>
                </a:solidFill>
                <a:latin typeface="Aptos"/>
              </a:defRPr>
            </a:pPr>
            <a:r>
              <a:t>• Learn performance: indexes, EXPLAIN, query plans and avoiding unnecessary scans.</a:t>
            </a:r>
          </a:p>
          <a:p>
            <a:pPr>
              <a:spcAft>
                <a:spcPts val="500"/>
              </a:spcAft>
              <a:defRPr sz="1600">
                <a:solidFill>
                  <a:srgbClr val="232C38"/>
                </a:solidFill>
                <a:latin typeface="Aptos"/>
              </a:defRPr>
            </a:pPr>
            <a:r>
              <a:t>• Learn application integration: connection strings, pooling, migrations and ORM basics.</a:t>
            </a:r>
          </a:p>
        </p:txBody>
      </p:sp>
      <p:sp>
        <p:nvSpPr>
          <p:cNvPr id="8" name="Rounded Rectangle 7"/>
          <p:cNvSpPr/>
          <p:nvPr/>
        </p:nvSpPr>
        <p:spPr>
          <a:xfrm>
            <a:off x="6400800" y="1325880"/>
            <a:ext cx="480060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325880"/>
            <a:ext cx="64008" cy="105156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65392" y="1444752"/>
            <a:ext cx="45079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Core tables</a:t>
            </a:r>
          </a:p>
        </p:txBody>
      </p:sp>
      <p:sp>
        <p:nvSpPr>
          <p:cNvPr id="11" name="TextBox 10"/>
          <p:cNvSpPr txBox="1"/>
          <p:nvPr/>
        </p:nvSpPr>
        <p:spPr>
          <a:xfrm>
            <a:off x="6565392" y="1828800"/>
            <a:ext cx="448970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products, suppliers, warehouses, inventory, orders, order_items, shipments, shipment_events</a:t>
            </a:r>
          </a:p>
        </p:txBody>
      </p:sp>
      <p:sp>
        <p:nvSpPr>
          <p:cNvPr id="12" name="Rounded Rectangle 11"/>
          <p:cNvSpPr/>
          <p:nvPr/>
        </p:nvSpPr>
        <p:spPr>
          <a:xfrm>
            <a:off x="6400800" y="2606040"/>
            <a:ext cx="480060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606040"/>
            <a:ext cx="64008" cy="105156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724912"/>
            <a:ext cx="45079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Operational history</a:t>
            </a:r>
          </a:p>
        </p:txBody>
      </p:sp>
      <p:sp>
        <p:nvSpPr>
          <p:cNvPr id="15" name="TextBox 14"/>
          <p:cNvSpPr txBox="1"/>
          <p:nvPr/>
        </p:nvSpPr>
        <p:spPr>
          <a:xfrm>
            <a:off x="6565392" y="3108960"/>
            <a:ext cx="448970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pipeline_runs, data_quality_results, users, roles, audit_events</a:t>
            </a:r>
          </a:p>
        </p:txBody>
      </p:sp>
      <p:sp>
        <p:nvSpPr>
          <p:cNvPr id="16" name="Rounded Rectangle 15"/>
          <p:cNvSpPr/>
          <p:nvPr/>
        </p:nvSpPr>
        <p:spPr>
          <a:xfrm>
            <a:off x="6400800" y="3886200"/>
            <a:ext cx="4800600" cy="10515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86200"/>
            <a:ext cx="64008" cy="105156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4005072"/>
            <a:ext cx="45079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Analytics</a:t>
            </a:r>
          </a:p>
        </p:txBody>
      </p:sp>
      <p:sp>
        <p:nvSpPr>
          <p:cNvPr id="19" name="TextBox 18"/>
          <p:cNvSpPr txBox="1"/>
          <p:nvPr/>
        </p:nvSpPr>
        <p:spPr>
          <a:xfrm>
            <a:off x="6565392" y="4389120"/>
            <a:ext cx="4489704" cy="466343"/>
          </a:xfrm>
          <a:prstGeom prst="rect">
            <a:avLst/>
          </a:prstGeom>
          <a:noFill/>
        </p:spPr>
        <p:txBody>
          <a:bodyPr wrap="square" lIns="54864" rIns="54864" tIns="54864" bIns="54864" anchor="t">
            <a:spAutoFit/>
          </a:bodyPr>
          <a:lstStyle/>
          <a:p>
            <a:pPr>
              <a:spcAft>
                <a:spcPts val="500"/>
              </a:spcAft>
              <a:defRPr sz="1100" b="0">
                <a:solidFill>
                  <a:srgbClr val="232C38"/>
                </a:solidFill>
                <a:latin typeface="Aptos"/>
              </a:defRPr>
            </a:pPr>
            <a:r>
              <a:t>KPI views or reporting tables derived from trustworthy operational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13. Conceptual data model</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32688"/>
            <a:ext cx="10972800" cy="384048"/>
          </a:xfrm>
          <a:prstGeom prst="rect">
            <a:avLst/>
          </a:prstGeom>
          <a:noFill/>
        </p:spPr>
        <p:txBody>
          <a:bodyPr wrap="square" lIns="54864" rIns="54864" tIns="54864" bIns="54864" anchor="t">
            <a:spAutoFit/>
          </a:bodyPr>
          <a:lstStyle/>
          <a:p>
            <a:pPr>
              <a:spcAft>
                <a:spcPts val="500"/>
              </a:spcAft>
              <a:defRPr sz="1200" b="0">
                <a:solidFill>
                  <a:srgbClr val="5C6C80"/>
                </a:solidFill>
                <a:latin typeface="Aptos"/>
              </a:defRPr>
            </a:pPr>
            <a:r>
              <a:t>This is a starting point; the detailed schema will be designed and reviewed before implementation.</a:t>
            </a:r>
          </a:p>
        </p:txBody>
      </p:sp>
      <p:sp>
        <p:nvSpPr>
          <p:cNvPr id="5" name="TextBox 4"/>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DATABASE</a:t>
            </a:r>
          </a:p>
        </p:txBody>
      </p:sp>
      <p:sp>
        <p:nvSpPr>
          <p:cNvPr id="6" name="TextBox 5"/>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7" name="TextBox 6"/>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15</a:t>
            </a:r>
          </a:p>
        </p:txBody>
      </p:sp>
      <p:sp>
        <p:nvSpPr>
          <p:cNvPr id="8" name="Rounded Rectangle 7"/>
          <p:cNvSpPr/>
          <p:nvPr/>
        </p:nvSpPr>
        <p:spPr>
          <a:xfrm>
            <a:off x="685800" y="1417320"/>
            <a:ext cx="192024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417320"/>
            <a:ext cx="64008" cy="86868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536192"/>
            <a:ext cx="162763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SUPPLIER</a:t>
            </a:r>
          </a:p>
        </p:txBody>
      </p:sp>
      <p:sp>
        <p:nvSpPr>
          <p:cNvPr id="11" name="TextBox 10"/>
          <p:cNvSpPr txBox="1"/>
          <p:nvPr/>
        </p:nvSpPr>
        <p:spPr>
          <a:xfrm>
            <a:off x="850392" y="1920240"/>
            <a:ext cx="160934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supplier_id • name</a:t>
            </a:r>
          </a:p>
        </p:txBody>
      </p:sp>
      <p:sp>
        <p:nvSpPr>
          <p:cNvPr id="12" name="Rounded Rectangle 11"/>
          <p:cNvSpPr/>
          <p:nvPr/>
        </p:nvSpPr>
        <p:spPr>
          <a:xfrm>
            <a:off x="2971800" y="1417320"/>
            <a:ext cx="192024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71800" y="1417320"/>
            <a:ext cx="64008" cy="8686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36392" y="1536192"/>
            <a:ext cx="162763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PRODUCT</a:t>
            </a:r>
          </a:p>
        </p:txBody>
      </p:sp>
      <p:sp>
        <p:nvSpPr>
          <p:cNvPr id="15" name="TextBox 14"/>
          <p:cNvSpPr txBox="1"/>
          <p:nvPr/>
        </p:nvSpPr>
        <p:spPr>
          <a:xfrm>
            <a:off x="3136392" y="1920240"/>
            <a:ext cx="160934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product_id • SKU</a:t>
            </a:r>
          </a:p>
        </p:txBody>
      </p:sp>
      <p:sp>
        <p:nvSpPr>
          <p:cNvPr id="16" name="Rounded Rectangle 15"/>
          <p:cNvSpPr/>
          <p:nvPr/>
        </p:nvSpPr>
        <p:spPr>
          <a:xfrm>
            <a:off x="5257800" y="1417320"/>
            <a:ext cx="192024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57800" y="1417320"/>
            <a:ext cx="64008" cy="8686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2392" y="1536192"/>
            <a:ext cx="162763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WAREHOUSE</a:t>
            </a:r>
          </a:p>
        </p:txBody>
      </p:sp>
      <p:sp>
        <p:nvSpPr>
          <p:cNvPr id="19" name="TextBox 18"/>
          <p:cNvSpPr txBox="1"/>
          <p:nvPr/>
        </p:nvSpPr>
        <p:spPr>
          <a:xfrm>
            <a:off x="5422392" y="1920240"/>
            <a:ext cx="160934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warehouse_id • location</a:t>
            </a:r>
          </a:p>
        </p:txBody>
      </p:sp>
      <p:sp>
        <p:nvSpPr>
          <p:cNvPr id="20" name="Rounded Rectangle 19"/>
          <p:cNvSpPr/>
          <p:nvPr/>
        </p:nvSpPr>
        <p:spPr>
          <a:xfrm>
            <a:off x="7543800" y="1417320"/>
            <a:ext cx="192024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43800" y="1417320"/>
            <a:ext cx="64008" cy="86868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08392" y="1536192"/>
            <a:ext cx="162763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ORDER</a:t>
            </a:r>
          </a:p>
        </p:txBody>
      </p:sp>
      <p:sp>
        <p:nvSpPr>
          <p:cNvPr id="23" name="TextBox 22"/>
          <p:cNvSpPr txBox="1"/>
          <p:nvPr/>
        </p:nvSpPr>
        <p:spPr>
          <a:xfrm>
            <a:off x="7708392" y="1920240"/>
            <a:ext cx="160934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order_id • status</a:t>
            </a:r>
          </a:p>
        </p:txBody>
      </p:sp>
      <p:sp>
        <p:nvSpPr>
          <p:cNvPr id="24" name="Rounded Rectangle 23"/>
          <p:cNvSpPr/>
          <p:nvPr/>
        </p:nvSpPr>
        <p:spPr>
          <a:xfrm>
            <a:off x="9829800" y="1417320"/>
            <a:ext cx="169164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829800" y="1417320"/>
            <a:ext cx="64008" cy="8686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94392" y="1536192"/>
            <a:ext cx="139903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SHIPMENT</a:t>
            </a:r>
          </a:p>
        </p:txBody>
      </p:sp>
      <p:sp>
        <p:nvSpPr>
          <p:cNvPr id="27" name="TextBox 26"/>
          <p:cNvSpPr txBox="1"/>
          <p:nvPr/>
        </p:nvSpPr>
        <p:spPr>
          <a:xfrm>
            <a:off x="9994392" y="1920240"/>
            <a:ext cx="138074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shipment_id • status</a:t>
            </a:r>
          </a:p>
        </p:txBody>
      </p:sp>
      <p:sp>
        <p:nvSpPr>
          <p:cNvPr id="28" name="Rounded Rectangle 27"/>
          <p:cNvSpPr/>
          <p:nvPr/>
        </p:nvSpPr>
        <p:spPr>
          <a:xfrm>
            <a:off x="1828800" y="3246120"/>
            <a:ext cx="219456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0" y="3246120"/>
            <a:ext cx="64008" cy="8686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93392" y="3364991"/>
            <a:ext cx="190195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INVENTORY</a:t>
            </a:r>
          </a:p>
        </p:txBody>
      </p:sp>
      <p:sp>
        <p:nvSpPr>
          <p:cNvPr id="31" name="TextBox 30"/>
          <p:cNvSpPr txBox="1"/>
          <p:nvPr/>
        </p:nvSpPr>
        <p:spPr>
          <a:xfrm>
            <a:off x="1993392" y="3749039"/>
            <a:ext cx="188366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product + warehouse + quantity</a:t>
            </a:r>
          </a:p>
        </p:txBody>
      </p:sp>
      <p:sp>
        <p:nvSpPr>
          <p:cNvPr id="32" name="Rounded Rectangle 31"/>
          <p:cNvSpPr/>
          <p:nvPr/>
        </p:nvSpPr>
        <p:spPr>
          <a:xfrm>
            <a:off x="4663440" y="3246120"/>
            <a:ext cx="219456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63440" y="3246120"/>
            <a:ext cx="64008" cy="86868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28031" y="3364991"/>
            <a:ext cx="190195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ORDER_ITEM</a:t>
            </a:r>
          </a:p>
        </p:txBody>
      </p:sp>
      <p:sp>
        <p:nvSpPr>
          <p:cNvPr id="35" name="TextBox 34"/>
          <p:cNvSpPr txBox="1"/>
          <p:nvPr/>
        </p:nvSpPr>
        <p:spPr>
          <a:xfrm>
            <a:off x="4828031" y="3749039"/>
            <a:ext cx="188366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order + product + quantity</a:t>
            </a:r>
          </a:p>
        </p:txBody>
      </p:sp>
      <p:sp>
        <p:nvSpPr>
          <p:cNvPr id="36" name="Rounded Rectangle 35"/>
          <p:cNvSpPr/>
          <p:nvPr/>
        </p:nvSpPr>
        <p:spPr>
          <a:xfrm>
            <a:off x="7498079" y="3246120"/>
            <a:ext cx="2194560" cy="8686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79" y="3246120"/>
            <a:ext cx="64008" cy="8686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62671" y="3364991"/>
            <a:ext cx="1901952" cy="320040"/>
          </a:xfrm>
          <a:prstGeom prst="rect">
            <a:avLst/>
          </a:prstGeom>
          <a:noFill/>
        </p:spPr>
        <p:txBody>
          <a:bodyPr wrap="square" lIns="54864" rIns="54864" tIns="54864" bIns="54864" anchor="t">
            <a:spAutoFit/>
          </a:bodyPr>
          <a:lstStyle/>
          <a:p>
            <a:pPr>
              <a:spcAft>
                <a:spcPts val="500"/>
              </a:spcAft>
              <a:defRPr sz="1100" b="1">
                <a:solidFill>
                  <a:srgbClr val="14233C"/>
                </a:solidFill>
                <a:latin typeface="Aptos"/>
              </a:defRPr>
            </a:pPr>
            <a:r>
              <a:t>SHIPMENT_EVENT</a:t>
            </a:r>
          </a:p>
        </p:txBody>
      </p:sp>
      <p:sp>
        <p:nvSpPr>
          <p:cNvPr id="39" name="TextBox 38"/>
          <p:cNvSpPr txBox="1"/>
          <p:nvPr/>
        </p:nvSpPr>
        <p:spPr>
          <a:xfrm>
            <a:off x="7662671" y="3749039"/>
            <a:ext cx="1883664" cy="283463"/>
          </a:xfrm>
          <a:prstGeom prst="rect">
            <a:avLst/>
          </a:prstGeom>
          <a:noFill/>
        </p:spPr>
        <p:txBody>
          <a:bodyPr wrap="square" lIns="54864" rIns="54864" tIns="54864" bIns="54864" anchor="t">
            <a:spAutoFit/>
          </a:bodyPr>
          <a:lstStyle/>
          <a:p>
            <a:pPr>
              <a:spcAft>
                <a:spcPts val="500"/>
              </a:spcAft>
              <a:defRPr sz="900" b="0">
                <a:solidFill>
                  <a:srgbClr val="232C38"/>
                </a:solidFill>
                <a:latin typeface="Aptos"/>
              </a:defRPr>
            </a:pPr>
            <a:r>
              <a:t>shipment + time + event</a:t>
            </a:r>
          </a:p>
        </p:txBody>
      </p:sp>
      <p:sp>
        <p:nvSpPr>
          <p:cNvPr id="40" name="TextBox 39"/>
          <p:cNvSpPr txBox="1"/>
          <p:nvPr/>
        </p:nvSpPr>
        <p:spPr>
          <a:xfrm>
            <a:off x="822960" y="4800600"/>
            <a:ext cx="10698480" cy="731520"/>
          </a:xfrm>
          <a:prstGeom prst="rect">
            <a:avLst/>
          </a:prstGeom>
          <a:noFill/>
        </p:spPr>
        <p:txBody>
          <a:bodyPr wrap="square" lIns="54864" rIns="54864" tIns="54864" bIns="54864" anchor="t">
            <a:spAutoFit/>
          </a:bodyPr>
          <a:lstStyle/>
          <a:p>
            <a:pPr algn="ctr">
              <a:spcAft>
                <a:spcPts val="500"/>
              </a:spcAft>
              <a:defRPr sz="1500" b="0">
                <a:solidFill>
                  <a:srgbClr val="232C38"/>
                </a:solidFill>
                <a:latin typeface="Aptos"/>
              </a:defRPr>
            </a:pPr>
            <a:r>
              <a:t>Relationships to define: supplier → products; product + warehouse → inventory; order → order items; order → shipment(s); shipment → shipment events. Decide cardinality and constraints explicitly.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14. Backend and API design</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BACKEND</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16</a:t>
            </a:r>
          </a:p>
        </p:txBody>
      </p:sp>
      <p:sp>
        <p:nvSpPr>
          <p:cNvPr id="7" name="TextBox 6"/>
          <p:cNvSpPr txBox="1"/>
          <p:nvPr/>
        </p:nvSpPr>
        <p:spPr>
          <a:xfrm>
            <a:off x="731520" y="1280160"/>
            <a:ext cx="5029200" cy="411480"/>
          </a:xfrm>
          <a:prstGeom prst="rect">
            <a:avLst/>
          </a:prstGeom>
          <a:noFill/>
        </p:spPr>
        <p:txBody>
          <a:bodyPr wrap="square" lIns="54864" rIns="54864" tIns="54864" bIns="54864" anchor="t">
            <a:spAutoFit/>
          </a:bodyPr>
          <a:lstStyle/>
          <a:p>
            <a:pPr>
              <a:spcAft>
                <a:spcPts val="500"/>
              </a:spcAft>
              <a:defRPr sz="1800" b="1">
                <a:solidFill>
                  <a:srgbClr val="14233C"/>
                </a:solidFill>
                <a:latin typeface="Aptos"/>
              </a:defRPr>
            </a:pPr>
            <a:r>
              <a:t>Example REST endpoints</a:t>
            </a:r>
          </a:p>
        </p:txBody>
      </p:sp>
      <p:sp>
        <p:nvSpPr>
          <p:cNvPr id="8" name="Rounded Rectangle 7"/>
          <p:cNvSpPr/>
          <p:nvPr/>
        </p:nvSpPr>
        <p:spPr>
          <a:xfrm>
            <a:off x="731520" y="1783080"/>
            <a:ext cx="5212080" cy="33375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92807"/>
            <a:ext cx="4882896" cy="3136391"/>
          </a:xfrm>
          <a:prstGeom prst="rect">
            <a:avLst/>
          </a:prstGeom>
          <a:noFill/>
        </p:spPr>
        <p:txBody>
          <a:bodyPr wrap="square" lIns="0" rIns="0" tIns="0" bIns="0">
            <a:spAutoFit/>
          </a:bodyPr>
          <a:lstStyle/>
          <a:p>
            <a:pPr>
              <a:spcAft>
                <a:spcPts val="100"/>
              </a:spcAft>
              <a:defRPr sz="1300">
                <a:solidFill>
                  <a:srgbClr val="E0EBF6"/>
                </a:solidFill>
                <a:latin typeface="Consolas"/>
              </a:defRPr>
            </a:pPr>
            <a:r>
              <a:t>GET    /api/v1/products</a:t>
            </a:r>
          </a:p>
          <a:p>
            <a:pPr>
              <a:spcAft>
                <a:spcPts val="100"/>
              </a:spcAft>
              <a:defRPr sz="1300">
                <a:solidFill>
                  <a:srgbClr val="E0EBF6"/>
                </a:solidFill>
                <a:latin typeface="Consolas"/>
              </a:defRPr>
            </a:pPr>
            <a:r>
              <a:t>POST   /api/v1/products</a:t>
            </a:r>
          </a:p>
          <a:p>
            <a:pPr>
              <a:spcAft>
                <a:spcPts val="100"/>
              </a:spcAft>
              <a:defRPr sz="1300">
                <a:solidFill>
                  <a:srgbClr val="E0EBF6"/>
                </a:solidFill>
                <a:latin typeface="Consolas"/>
              </a:defRPr>
            </a:pPr>
            <a:r>
              <a:t>GET    /api/v1/orders/{order_id}</a:t>
            </a:r>
          </a:p>
          <a:p>
            <a:pPr>
              <a:spcAft>
                <a:spcPts val="100"/>
              </a:spcAft>
              <a:defRPr sz="1300">
                <a:solidFill>
                  <a:srgbClr val="E0EBF6"/>
                </a:solidFill>
                <a:latin typeface="Consolas"/>
              </a:defRPr>
            </a:pPr>
            <a:r>
              <a:t>POST   /api/v1/orders</a:t>
            </a:r>
          </a:p>
          <a:p>
            <a:pPr>
              <a:spcAft>
                <a:spcPts val="100"/>
              </a:spcAft>
              <a:defRPr sz="1300">
                <a:solidFill>
                  <a:srgbClr val="E0EBF6"/>
                </a:solidFill>
                <a:latin typeface="Consolas"/>
              </a:defRPr>
            </a:pPr>
            <a:r>
              <a:t>PATCH  /api/v1/shipments/{id}/status</a:t>
            </a:r>
          </a:p>
          <a:p>
            <a:pPr>
              <a:spcAft>
                <a:spcPts val="100"/>
              </a:spcAft>
              <a:defRPr sz="1300">
                <a:solidFill>
                  <a:srgbClr val="E0EBF6"/>
                </a:solidFill>
                <a:latin typeface="Consolas"/>
              </a:defRPr>
            </a:pPr>
            <a:r>
              <a:t>GET    /api/v1/analytics/delivery-kpis</a:t>
            </a:r>
          </a:p>
          <a:p>
            <a:pPr>
              <a:spcAft>
                <a:spcPts val="100"/>
              </a:spcAft>
              <a:defRPr sz="1300">
                <a:solidFill>
                  <a:srgbClr val="E0EBF6"/>
                </a:solidFill>
                <a:latin typeface="Consolas"/>
              </a:defRPr>
            </a:pPr>
            <a:r>
              <a:t>POST   /api/v1/pipeline-runs</a:t>
            </a:r>
          </a:p>
        </p:txBody>
      </p:sp>
      <p:sp>
        <p:nvSpPr>
          <p:cNvPr id="10" name="TextBox 9"/>
          <p:cNvSpPr txBox="1"/>
          <p:nvPr/>
        </p:nvSpPr>
        <p:spPr>
          <a:xfrm>
            <a:off x="6400800" y="1417320"/>
            <a:ext cx="4800600" cy="438912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HTTP methods: GET reads, POST creates, PATCH partially updates, DELETE removes.</a:t>
            </a:r>
          </a:p>
          <a:p>
            <a:pPr>
              <a:spcAft>
                <a:spcPts val="500"/>
              </a:spcAft>
              <a:defRPr sz="1500">
                <a:solidFill>
                  <a:srgbClr val="232C38"/>
                </a:solidFill>
                <a:latin typeface="Aptos"/>
              </a:defRPr>
            </a:pPr>
            <a:r>
              <a:t>• Validation: check request shape and business rules.</a:t>
            </a:r>
          </a:p>
          <a:p>
            <a:pPr>
              <a:spcAft>
                <a:spcPts val="500"/>
              </a:spcAft>
              <a:defRPr sz="1500">
                <a:solidFill>
                  <a:srgbClr val="232C38"/>
                </a:solidFill>
                <a:latin typeface="Aptos"/>
              </a:defRPr>
            </a:pPr>
            <a:r>
              <a:t>• Status codes: use appropriate success and error responses.</a:t>
            </a:r>
          </a:p>
          <a:p>
            <a:pPr>
              <a:spcAft>
                <a:spcPts val="500"/>
              </a:spcAft>
              <a:defRPr sz="1500">
                <a:solidFill>
                  <a:srgbClr val="232C38"/>
                </a:solidFill>
                <a:latin typeface="Aptos"/>
              </a:defRPr>
            </a:pPr>
            <a:r>
              <a:t>• Service layer: keep business logic separate from route handlers.</a:t>
            </a:r>
          </a:p>
          <a:p>
            <a:pPr>
              <a:spcAft>
                <a:spcPts val="500"/>
              </a:spcAft>
              <a:defRPr sz="1500">
                <a:solidFill>
                  <a:srgbClr val="232C38"/>
                </a:solidFill>
                <a:latin typeface="Aptos"/>
              </a:defRPr>
            </a:pPr>
            <a:r>
              <a:t>• API docs: FastAPI can expose an interactive OpenAPI/Swagger page.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15. Data pipeline: from raw file to trusted records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DATA ENGINEERING</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17</a:t>
            </a:r>
          </a:p>
        </p:txBody>
      </p:sp>
      <p:sp>
        <p:nvSpPr>
          <p:cNvPr id="7" name="Rounded Rectangle 6"/>
          <p:cNvSpPr/>
          <p:nvPr/>
        </p:nvSpPr>
        <p:spPr>
          <a:xfrm>
            <a:off x="457200"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28800"/>
            <a:ext cx="64008" cy="20574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1. Source</a:t>
            </a:r>
          </a:p>
        </p:txBody>
      </p:sp>
      <p:sp>
        <p:nvSpPr>
          <p:cNvPr id="10" name="TextBox 9"/>
          <p:cNvSpPr txBox="1"/>
          <p:nvPr/>
        </p:nvSpPr>
        <p:spPr>
          <a:xfrm>
            <a:off x="621792"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CSV / public data / simulated events</a:t>
            </a:r>
          </a:p>
        </p:txBody>
      </p:sp>
      <p:sp>
        <p:nvSpPr>
          <p:cNvPr id="11" name="TextBox 10"/>
          <p:cNvSpPr txBox="1"/>
          <p:nvPr/>
        </p:nvSpPr>
        <p:spPr>
          <a:xfrm>
            <a:off x="1956815"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12" name="Rounded Rectangle 11"/>
          <p:cNvSpPr/>
          <p:nvPr/>
        </p:nvSpPr>
        <p:spPr>
          <a:xfrm>
            <a:off x="2121408"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21408" y="1828800"/>
            <a:ext cx="64008" cy="20574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0"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2. Ingest</a:t>
            </a:r>
          </a:p>
        </p:txBody>
      </p:sp>
      <p:sp>
        <p:nvSpPr>
          <p:cNvPr id="15" name="TextBox 14"/>
          <p:cNvSpPr txBox="1"/>
          <p:nvPr/>
        </p:nvSpPr>
        <p:spPr>
          <a:xfrm>
            <a:off x="2286000"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register file and create run record</a:t>
            </a:r>
          </a:p>
        </p:txBody>
      </p:sp>
      <p:sp>
        <p:nvSpPr>
          <p:cNvPr id="16" name="TextBox 15"/>
          <p:cNvSpPr txBox="1"/>
          <p:nvPr/>
        </p:nvSpPr>
        <p:spPr>
          <a:xfrm>
            <a:off x="3621024"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17" name="Rounded Rectangle 16"/>
          <p:cNvSpPr/>
          <p:nvPr/>
        </p:nvSpPr>
        <p:spPr>
          <a:xfrm>
            <a:off x="3785616"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85616" y="1828800"/>
            <a:ext cx="64008" cy="20574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50208"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3. Validate</a:t>
            </a:r>
          </a:p>
        </p:txBody>
      </p:sp>
      <p:sp>
        <p:nvSpPr>
          <p:cNvPr id="20" name="TextBox 19"/>
          <p:cNvSpPr txBox="1"/>
          <p:nvPr/>
        </p:nvSpPr>
        <p:spPr>
          <a:xfrm>
            <a:off x="3950208"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schema, types, required fields, ranges</a:t>
            </a:r>
          </a:p>
        </p:txBody>
      </p:sp>
      <p:sp>
        <p:nvSpPr>
          <p:cNvPr id="21" name="TextBox 20"/>
          <p:cNvSpPr txBox="1"/>
          <p:nvPr/>
        </p:nvSpPr>
        <p:spPr>
          <a:xfrm>
            <a:off x="5285232"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22" name="Rounded Rectangle 21"/>
          <p:cNvSpPr/>
          <p:nvPr/>
        </p:nvSpPr>
        <p:spPr>
          <a:xfrm>
            <a:off x="5449824"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49824" y="1828800"/>
            <a:ext cx="64008" cy="20574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4416"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4. Transform</a:t>
            </a:r>
          </a:p>
        </p:txBody>
      </p:sp>
      <p:sp>
        <p:nvSpPr>
          <p:cNvPr id="25" name="TextBox 24"/>
          <p:cNvSpPr txBox="1"/>
          <p:nvPr/>
        </p:nvSpPr>
        <p:spPr>
          <a:xfrm>
            <a:off x="5614416"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normalize dates, units, IDs, categories</a:t>
            </a:r>
          </a:p>
        </p:txBody>
      </p:sp>
      <p:sp>
        <p:nvSpPr>
          <p:cNvPr id="26" name="TextBox 25"/>
          <p:cNvSpPr txBox="1"/>
          <p:nvPr/>
        </p:nvSpPr>
        <p:spPr>
          <a:xfrm>
            <a:off x="6949440"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27" name="Rounded Rectangle 26"/>
          <p:cNvSpPr/>
          <p:nvPr/>
        </p:nvSpPr>
        <p:spPr>
          <a:xfrm>
            <a:off x="7114032"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14032" y="1828800"/>
            <a:ext cx="64008" cy="20574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78624"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5. Load</a:t>
            </a:r>
          </a:p>
        </p:txBody>
      </p:sp>
      <p:sp>
        <p:nvSpPr>
          <p:cNvPr id="30" name="TextBox 29"/>
          <p:cNvSpPr txBox="1"/>
          <p:nvPr/>
        </p:nvSpPr>
        <p:spPr>
          <a:xfrm>
            <a:off x="7278624"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transactional write / staging tables</a:t>
            </a:r>
          </a:p>
        </p:txBody>
      </p:sp>
      <p:sp>
        <p:nvSpPr>
          <p:cNvPr id="31" name="TextBox 30"/>
          <p:cNvSpPr txBox="1"/>
          <p:nvPr/>
        </p:nvSpPr>
        <p:spPr>
          <a:xfrm>
            <a:off x="8613648"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32" name="Rounded Rectangle 31"/>
          <p:cNvSpPr/>
          <p:nvPr/>
        </p:nvSpPr>
        <p:spPr>
          <a:xfrm>
            <a:off x="8778240"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78240" y="1828800"/>
            <a:ext cx="64008" cy="20574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42832"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6. Reconcile</a:t>
            </a:r>
          </a:p>
        </p:txBody>
      </p:sp>
      <p:sp>
        <p:nvSpPr>
          <p:cNvPr id="35" name="TextBox 34"/>
          <p:cNvSpPr txBox="1"/>
          <p:nvPr/>
        </p:nvSpPr>
        <p:spPr>
          <a:xfrm>
            <a:off x="8942832"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row counts, rejects, duplicates</a:t>
            </a:r>
          </a:p>
        </p:txBody>
      </p:sp>
      <p:sp>
        <p:nvSpPr>
          <p:cNvPr id="36" name="TextBox 35"/>
          <p:cNvSpPr txBox="1"/>
          <p:nvPr/>
        </p:nvSpPr>
        <p:spPr>
          <a:xfrm>
            <a:off x="10277856" y="2578608"/>
            <a:ext cx="182880" cy="228600"/>
          </a:xfrm>
          <a:prstGeom prst="rect">
            <a:avLst/>
          </a:prstGeom>
          <a:noFill/>
        </p:spPr>
        <p:txBody>
          <a:bodyPr wrap="square" lIns="54864" rIns="54864" tIns="54864" bIns="54864" anchor="t">
            <a:spAutoFit/>
          </a:bodyPr>
          <a:lstStyle/>
          <a:p>
            <a:pPr algn="ctr">
              <a:spcAft>
                <a:spcPts val="500"/>
              </a:spcAft>
              <a:defRPr sz="1300" b="1">
                <a:solidFill>
                  <a:srgbClr val="5C6C80"/>
                </a:solidFill>
                <a:latin typeface="Aptos"/>
              </a:defRPr>
            </a:pPr>
            <a:r>
              <a:t>→</a:t>
            </a:r>
          </a:p>
        </p:txBody>
      </p:sp>
      <p:sp>
        <p:nvSpPr>
          <p:cNvPr id="37" name="Rounded Rectangle 36"/>
          <p:cNvSpPr/>
          <p:nvPr/>
        </p:nvSpPr>
        <p:spPr>
          <a:xfrm>
            <a:off x="10442448" y="1828800"/>
            <a:ext cx="1508760"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442448" y="1828800"/>
            <a:ext cx="64008" cy="2057400"/>
          </a:xfrm>
          <a:prstGeom prst="rect">
            <a:avLst/>
          </a:prstGeom>
          <a:solidFill>
            <a:srgbClr val="3791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07040" y="1947672"/>
            <a:ext cx="1216151" cy="320040"/>
          </a:xfrm>
          <a:prstGeom prst="rect">
            <a:avLst/>
          </a:prstGeom>
          <a:noFill/>
        </p:spPr>
        <p:txBody>
          <a:bodyPr wrap="square" lIns="54864" rIns="54864" tIns="54864" bIns="54864" anchor="t">
            <a:spAutoFit/>
          </a:bodyPr>
          <a:lstStyle/>
          <a:p>
            <a:pPr>
              <a:spcAft>
                <a:spcPts val="500"/>
              </a:spcAft>
              <a:defRPr sz="1200" b="1">
                <a:solidFill>
                  <a:srgbClr val="14233C"/>
                </a:solidFill>
                <a:latin typeface="Aptos"/>
              </a:defRPr>
            </a:pPr>
            <a:r>
              <a:t>7. Publish</a:t>
            </a:r>
          </a:p>
        </p:txBody>
      </p:sp>
      <p:sp>
        <p:nvSpPr>
          <p:cNvPr id="40" name="TextBox 39"/>
          <p:cNvSpPr txBox="1"/>
          <p:nvPr/>
        </p:nvSpPr>
        <p:spPr>
          <a:xfrm>
            <a:off x="10607040" y="2331720"/>
            <a:ext cx="1197863" cy="147218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analytics refresh and run status</a:t>
            </a:r>
          </a:p>
        </p:txBody>
      </p:sp>
      <p:sp>
        <p:nvSpPr>
          <p:cNvPr id="41" name="TextBox 40"/>
          <p:cNvSpPr txBox="1"/>
          <p:nvPr/>
        </p:nvSpPr>
        <p:spPr>
          <a:xfrm>
            <a:off x="777240" y="4434840"/>
            <a:ext cx="10698480" cy="731520"/>
          </a:xfrm>
          <a:prstGeom prst="rect">
            <a:avLst/>
          </a:prstGeom>
          <a:noFill/>
        </p:spPr>
        <p:txBody>
          <a:bodyPr wrap="square" lIns="54864" rIns="54864" tIns="54864" bIns="54864" anchor="t">
            <a:spAutoFit/>
          </a:bodyPr>
          <a:lstStyle/>
          <a:p>
            <a:pPr algn="ctr">
              <a:spcAft>
                <a:spcPts val="500"/>
              </a:spcAft>
              <a:defRPr sz="1600" b="0">
                <a:solidFill>
                  <a:srgbClr val="232C38"/>
                </a:solidFill>
                <a:latin typeface="Aptos"/>
              </a:defRPr>
            </a:pPr>
            <a:r>
              <a:t>Pipeline requirements: idempotency (safe re-runs), retries, structured logs, a run ID, error summaries, rejected-row samples and data lineage.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16. Analytics and advanced SQL</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ANALYTICS</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18</a:t>
            </a:r>
          </a:p>
        </p:txBody>
      </p:sp>
      <p:sp>
        <p:nvSpPr>
          <p:cNvPr id="7" name="Rounded Rectangle 6"/>
          <p:cNvSpPr/>
          <p:nvPr/>
        </p:nvSpPr>
        <p:spPr>
          <a:xfrm>
            <a:off x="685800" y="1371600"/>
            <a:ext cx="3474720"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71600"/>
            <a:ext cx="64008" cy="141732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Delivery reliability</a:t>
            </a:r>
          </a:p>
        </p:txBody>
      </p:sp>
      <p:sp>
        <p:nvSpPr>
          <p:cNvPr id="10" name="TextBox 9"/>
          <p:cNvSpPr txBox="1"/>
          <p:nvPr/>
        </p:nvSpPr>
        <p:spPr>
          <a:xfrm>
            <a:off x="850392" y="1874519"/>
            <a:ext cx="3163824" cy="8321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On-time rate, average delay, late shipments by supplier and route.</a:t>
            </a:r>
          </a:p>
        </p:txBody>
      </p:sp>
      <p:sp>
        <p:nvSpPr>
          <p:cNvPr id="11" name="Rounded Rectangle 10"/>
          <p:cNvSpPr/>
          <p:nvPr/>
        </p:nvSpPr>
        <p:spPr>
          <a:xfrm>
            <a:off x="4343400" y="1371600"/>
            <a:ext cx="3474720"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371600"/>
            <a:ext cx="64008" cy="141732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Inventory health</a:t>
            </a:r>
          </a:p>
        </p:txBody>
      </p:sp>
      <p:sp>
        <p:nvSpPr>
          <p:cNvPr id="14" name="TextBox 13"/>
          <p:cNvSpPr txBox="1"/>
          <p:nvPr/>
        </p:nvSpPr>
        <p:spPr>
          <a:xfrm>
            <a:off x="4507992" y="1874519"/>
            <a:ext cx="3163824" cy="8321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Stockout frequency, days of inventory, turnover and excess stock.</a:t>
            </a:r>
          </a:p>
        </p:txBody>
      </p:sp>
      <p:sp>
        <p:nvSpPr>
          <p:cNvPr id="15" name="Rounded Rectangle 14"/>
          <p:cNvSpPr/>
          <p:nvPr/>
        </p:nvSpPr>
        <p:spPr>
          <a:xfrm>
            <a:off x="8001000" y="1371600"/>
            <a:ext cx="3474720"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371600"/>
            <a:ext cx="64008" cy="141732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Supplier scorecards</a:t>
            </a:r>
          </a:p>
        </p:txBody>
      </p:sp>
      <p:sp>
        <p:nvSpPr>
          <p:cNvPr id="18" name="TextBox 17"/>
          <p:cNvSpPr txBox="1"/>
          <p:nvPr/>
        </p:nvSpPr>
        <p:spPr>
          <a:xfrm>
            <a:off x="8165592" y="1874519"/>
            <a:ext cx="3163824" cy="8321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On-time performance, defect rate, lead-time variability.</a:t>
            </a:r>
          </a:p>
        </p:txBody>
      </p:sp>
      <p:sp>
        <p:nvSpPr>
          <p:cNvPr id="19" name="TextBox 18"/>
          <p:cNvSpPr txBox="1"/>
          <p:nvPr/>
        </p:nvSpPr>
        <p:spPr>
          <a:xfrm>
            <a:off x="777240" y="3246120"/>
            <a:ext cx="5029200" cy="365760"/>
          </a:xfrm>
          <a:prstGeom prst="rect">
            <a:avLst/>
          </a:prstGeom>
          <a:noFill/>
        </p:spPr>
        <p:txBody>
          <a:bodyPr wrap="square" lIns="54864" rIns="54864" tIns="54864" bIns="54864" anchor="t">
            <a:spAutoFit/>
          </a:bodyPr>
          <a:lstStyle/>
          <a:p>
            <a:pPr>
              <a:spcAft>
                <a:spcPts val="500"/>
              </a:spcAft>
              <a:defRPr sz="1800" b="1">
                <a:solidFill>
                  <a:srgbClr val="14233C"/>
                </a:solidFill>
                <a:latin typeface="Aptos"/>
              </a:defRPr>
            </a:pPr>
            <a:r>
              <a:t>SQL concepts to practise</a:t>
            </a:r>
          </a:p>
        </p:txBody>
      </p:sp>
      <p:sp>
        <p:nvSpPr>
          <p:cNvPr id="20" name="TextBox 19"/>
          <p:cNvSpPr txBox="1"/>
          <p:nvPr/>
        </p:nvSpPr>
        <p:spPr>
          <a:xfrm>
            <a:off x="777240" y="3703320"/>
            <a:ext cx="5029200" cy="1554480"/>
          </a:xfrm>
          <a:prstGeom prst="rect">
            <a:avLst/>
          </a:prstGeom>
          <a:noFill/>
        </p:spPr>
        <p:txBody>
          <a:bodyPr wrap="square" lIns="109728" rIns="73152" tIns="73152">
            <a:spAutoFit/>
          </a:bodyPr>
          <a:lstStyle/>
          <a:p>
            <a:pPr>
              <a:spcAft>
                <a:spcPts val="500"/>
              </a:spcAft>
              <a:defRPr sz="1400">
                <a:solidFill>
                  <a:srgbClr val="232C38"/>
                </a:solidFill>
                <a:latin typeface="Aptos"/>
              </a:defRPr>
            </a:pPr>
            <a:r>
              <a:t>• JOINs and GROUP BY</a:t>
            </a:r>
          </a:p>
          <a:p>
            <a:pPr>
              <a:spcAft>
                <a:spcPts val="500"/>
              </a:spcAft>
              <a:defRPr sz="1400">
                <a:solidFill>
                  <a:srgbClr val="232C38"/>
                </a:solidFill>
                <a:latin typeface="Aptos"/>
              </a:defRPr>
            </a:pPr>
            <a:r>
              <a:t>• CTEs and subqueries</a:t>
            </a:r>
          </a:p>
          <a:p>
            <a:pPr>
              <a:spcAft>
                <a:spcPts val="500"/>
              </a:spcAft>
              <a:defRPr sz="1400">
                <a:solidFill>
                  <a:srgbClr val="232C38"/>
                </a:solidFill>
                <a:latin typeface="Aptos"/>
              </a:defRPr>
            </a:pPr>
            <a:r>
              <a:t>• Window functions (ROW_NUMBER, LAG, rolling metrics)</a:t>
            </a:r>
          </a:p>
          <a:p>
            <a:pPr>
              <a:spcAft>
                <a:spcPts val="500"/>
              </a:spcAft>
              <a:defRPr sz="1400">
                <a:solidFill>
                  <a:srgbClr val="232C38"/>
                </a:solidFill>
                <a:latin typeface="Aptos"/>
              </a:defRPr>
            </a:pPr>
            <a:r>
              <a:t>• Date/time aggregation and conditional aggregation</a:t>
            </a:r>
          </a:p>
        </p:txBody>
      </p:sp>
      <p:sp>
        <p:nvSpPr>
          <p:cNvPr id="21" name="TextBox 20"/>
          <p:cNvSpPr txBox="1"/>
          <p:nvPr/>
        </p:nvSpPr>
        <p:spPr>
          <a:xfrm>
            <a:off x="6172200" y="3246120"/>
            <a:ext cx="4754880" cy="365760"/>
          </a:xfrm>
          <a:prstGeom prst="rect">
            <a:avLst/>
          </a:prstGeom>
          <a:noFill/>
        </p:spPr>
        <p:txBody>
          <a:bodyPr wrap="square" lIns="54864" rIns="54864" tIns="54864" bIns="54864" anchor="t">
            <a:spAutoFit/>
          </a:bodyPr>
          <a:lstStyle/>
          <a:p>
            <a:pPr>
              <a:spcAft>
                <a:spcPts val="500"/>
              </a:spcAft>
              <a:defRPr sz="1800" b="1">
                <a:solidFill>
                  <a:srgbClr val="14233C"/>
                </a:solidFill>
                <a:latin typeface="Aptos"/>
              </a:defRPr>
            </a:pPr>
            <a:r>
              <a:t>Analytics quality rules</a:t>
            </a:r>
          </a:p>
        </p:txBody>
      </p:sp>
      <p:sp>
        <p:nvSpPr>
          <p:cNvPr id="22" name="TextBox 21"/>
          <p:cNvSpPr txBox="1"/>
          <p:nvPr/>
        </p:nvSpPr>
        <p:spPr>
          <a:xfrm>
            <a:off x="6172200" y="3703320"/>
            <a:ext cx="5029200" cy="1554480"/>
          </a:xfrm>
          <a:prstGeom prst="rect">
            <a:avLst/>
          </a:prstGeom>
          <a:noFill/>
        </p:spPr>
        <p:txBody>
          <a:bodyPr wrap="square" lIns="109728" rIns="73152" tIns="73152">
            <a:spAutoFit/>
          </a:bodyPr>
          <a:lstStyle/>
          <a:p>
            <a:pPr>
              <a:spcAft>
                <a:spcPts val="500"/>
              </a:spcAft>
              <a:defRPr sz="1400">
                <a:solidFill>
                  <a:srgbClr val="232C38"/>
                </a:solidFill>
                <a:latin typeface="Aptos"/>
              </a:defRPr>
            </a:pPr>
            <a:r>
              <a:t>• Define each KPI and denominator.</a:t>
            </a:r>
          </a:p>
          <a:p>
            <a:pPr>
              <a:spcAft>
                <a:spcPts val="500"/>
              </a:spcAft>
              <a:defRPr sz="1400">
                <a:solidFill>
                  <a:srgbClr val="232C38"/>
                </a:solidFill>
                <a:latin typeface="Aptos"/>
              </a:defRPr>
            </a:pPr>
            <a:r>
              <a:t>• Handle missing or late-arriving events explicitly.</a:t>
            </a:r>
          </a:p>
          <a:p>
            <a:pPr>
              <a:spcAft>
                <a:spcPts val="500"/>
              </a:spcAft>
              <a:defRPr sz="1400">
                <a:solidFill>
                  <a:srgbClr val="232C38"/>
                </a:solidFill>
                <a:latin typeface="Aptos"/>
              </a:defRPr>
            </a:pPr>
            <a:r>
              <a:t>• Reconcile dashboard values against SQL.</a:t>
            </a:r>
          </a:p>
          <a:p>
            <a:pPr>
              <a:spcAft>
                <a:spcPts val="500"/>
              </a:spcAft>
              <a:defRPr sz="1400">
                <a:solidFill>
                  <a:srgbClr val="232C38"/>
                </a:solidFill>
                <a:latin typeface="Aptos"/>
              </a:defRPr>
            </a:pPr>
            <a:r>
              <a:t>• Document filters, assumptions and limitations.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17. Big data: introduce complexity only when justified</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BIG DATA</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19</a:t>
            </a:r>
          </a:p>
        </p:txBody>
      </p:sp>
      <p:sp>
        <p:nvSpPr>
          <p:cNvPr id="7" name="Rounded Rectangle 6"/>
          <p:cNvSpPr/>
          <p:nvPr/>
        </p:nvSpPr>
        <p:spPr>
          <a:xfrm>
            <a:off x="685800" y="1417320"/>
            <a:ext cx="3474720" cy="2377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417320"/>
            <a:ext cx="64008" cy="2377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536192"/>
            <a:ext cx="318211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Stage A • Local batch</a:t>
            </a:r>
          </a:p>
        </p:txBody>
      </p:sp>
      <p:sp>
        <p:nvSpPr>
          <p:cNvPr id="10" name="TextBox 9"/>
          <p:cNvSpPr txBox="1"/>
          <p:nvPr/>
        </p:nvSpPr>
        <p:spPr>
          <a:xfrm>
            <a:off x="850392" y="1920240"/>
            <a:ext cx="3163824" cy="179222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Use pandas and SQL on small datasets. Learn data types, profiling, joins, transformations and correctness.</a:t>
            </a:r>
          </a:p>
        </p:txBody>
      </p:sp>
      <p:sp>
        <p:nvSpPr>
          <p:cNvPr id="11" name="Rounded Rectangle 10"/>
          <p:cNvSpPr/>
          <p:nvPr/>
        </p:nvSpPr>
        <p:spPr>
          <a:xfrm>
            <a:off x="4343400" y="1417320"/>
            <a:ext cx="3474720" cy="2377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17320"/>
            <a:ext cx="64008" cy="2377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536192"/>
            <a:ext cx="318211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Stage B • Distributed batch</a:t>
            </a:r>
          </a:p>
        </p:txBody>
      </p:sp>
      <p:sp>
        <p:nvSpPr>
          <p:cNvPr id="14" name="TextBox 13"/>
          <p:cNvSpPr txBox="1"/>
          <p:nvPr/>
        </p:nvSpPr>
        <p:spPr>
          <a:xfrm>
            <a:off x="4507992" y="1920240"/>
            <a:ext cx="3163824" cy="179222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Use PySpark when volume or transformation needs justify distributed processing. Compare outputs and runtime fairly.</a:t>
            </a:r>
          </a:p>
        </p:txBody>
      </p:sp>
      <p:sp>
        <p:nvSpPr>
          <p:cNvPr id="15" name="Rounded Rectangle 14"/>
          <p:cNvSpPr/>
          <p:nvPr/>
        </p:nvSpPr>
        <p:spPr>
          <a:xfrm>
            <a:off x="8001000" y="1417320"/>
            <a:ext cx="3474720" cy="2377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417320"/>
            <a:ext cx="64008" cy="2377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536192"/>
            <a:ext cx="3182112" cy="320040"/>
          </a:xfrm>
          <a:prstGeom prst="rect">
            <a:avLst/>
          </a:prstGeom>
          <a:noFill/>
        </p:spPr>
        <p:txBody>
          <a:bodyPr wrap="square" lIns="54864" rIns="54864" tIns="54864" bIns="54864" anchor="t">
            <a:spAutoFit/>
          </a:bodyPr>
          <a:lstStyle/>
          <a:p>
            <a:pPr>
              <a:spcAft>
                <a:spcPts val="500"/>
              </a:spcAft>
              <a:defRPr sz="1600" b="1">
                <a:solidFill>
                  <a:srgbClr val="14233C"/>
                </a:solidFill>
                <a:latin typeface="Aptos"/>
              </a:defRPr>
            </a:pPr>
            <a:r>
              <a:t>Stage C • Streaming</a:t>
            </a:r>
          </a:p>
        </p:txBody>
      </p:sp>
      <p:sp>
        <p:nvSpPr>
          <p:cNvPr id="18" name="TextBox 17"/>
          <p:cNvSpPr txBox="1"/>
          <p:nvPr/>
        </p:nvSpPr>
        <p:spPr>
          <a:xfrm>
            <a:off x="8165592" y="1920240"/>
            <a:ext cx="3163824" cy="179222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Simulate events first; introduce Kafka only when event flow, replay, consumer lag and delivery semantics are understood.</a:t>
            </a:r>
          </a:p>
        </p:txBody>
      </p:sp>
      <p:sp>
        <p:nvSpPr>
          <p:cNvPr id="19" name="TextBox 18"/>
          <p:cNvSpPr txBox="1"/>
          <p:nvPr/>
        </p:nvSpPr>
        <p:spPr>
          <a:xfrm>
            <a:off x="822960" y="4343400"/>
            <a:ext cx="10607040" cy="822960"/>
          </a:xfrm>
          <a:prstGeom prst="rect">
            <a:avLst/>
          </a:prstGeom>
          <a:noFill/>
        </p:spPr>
        <p:txBody>
          <a:bodyPr wrap="square" lIns="54864" rIns="54864" tIns="54864" bIns="54864" anchor="t">
            <a:spAutoFit/>
          </a:bodyPr>
          <a:lstStyle/>
          <a:p>
            <a:pPr algn="ctr">
              <a:spcAft>
                <a:spcPts val="500"/>
              </a:spcAft>
              <a:defRPr sz="1600" b="1">
                <a:solidFill>
                  <a:srgbClr val="14233C"/>
                </a:solidFill>
                <a:latin typeface="Aptos"/>
              </a:defRPr>
            </a:pPr>
            <a:r>
              <a:t>Benchmark responsibly: same input, equivalent output, repeat runs, note hardware and memory, and explain overhead. A bigger tool is not automatically faster.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18. Shipment events and exception management</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OPERATIONS</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20</a:t>
            </a:r>
          </a:p>
        </p:txBody>
      </p:sp>
      <p:sp>
        <p:nvSpPr>
          <p:cNvPr id="7" name="TextBox 6"/>
          <p:cNvSpPr txBox="1"/>
          <p:nvPr/>
        </p:nvSpPr>
        <p:spPr>
          <a:xfrm>
            <a:off x="731520" y="1371600"/>
            <a:ext cx="5303520" cy="411480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Event examples: dispatched, arrived_at_hub, delayed, out_for_delivery, delivered.</a:t>
            </a:r>
          </a:p>
          <a:p>
            <a:pPr>
              <a:spcAft>
                <a:spcPts val="500"/>
              </a:spcAft>
              <a:defRPr sz="1500">
                <a:solidFill>
                  <a:srgbClr val="232C38"/>
                </a:solidFill>
                <a:latin typeface="Aptos"/>
              </a:defRPr>
            </a:pPr>
            <a:r>
              <a:t>• Event fields: event_id, shipment_id, event_type, event_time, source, payload.</a:t>
            </a:r>
          </a:p>
          <a:p>
            <a:pPr>
              <a:spcAft>
                <a:spcPts val="500"/>
              </a:spcAft>
              <a:defRPr sz="1500">
                <a:solidFill>
                  <a:srgbClr val="232C38"/>
                </a:solidFill>
                <a:latin typeface="Aptos"/>
              </a:defRPr>
            </a:pPr>
            <a:r>
              <a:t>• State transition: validate whether the current shipment state can move to the requested state.</a:t>
            </a:r>
          </a:p>
          <a:p>
            <a:pPr>
              <a:spcAft>
                <a:spcPts val="500"/>
              </a:spcAft>
              <a:defRPr sz="1500">
                <a:solidFill>
                  <a:srgbClr val="232C38"/>
                </a:solidFill>
                <a:latin typeface="Aptos"/>
              </a:defRPr>
            </a:pPr>
            <a:r>
              <a:t>• Exception: create a trackable record when an expected event is late or a rule is violated.</a:t>
            </a:r>
          </a:p>
          <a:p>
            <a:pPr>
              <a:spcAft>
                <a:spcPts val="500"/>
              </a:spcAft>
              <a:defRPr sz="1500">
                <a:solidFill>
                  <a:srgbClr val="232C38"/>
                </a:solidFill>
                <a:latin typeface="Aptos"/>
              </a:defRPr>
            </a:pPr>
            <a:r>
              <a:t>• Auditability: retain history rather than overwriting every prior state.</a:t>
            </a:r>
          </a:p>
        </p:txBody>
      </p:sp>
      <p:sp>
        <p:nvSpPr>
          <p:cNvPr id="8" name="Rounded Rectangle 7"/>
          <p:cNvSpPr/>
          <p:nvPr/>
        </p:nvSpPr>
        <p:spPr>
          <a:xfrm>
            <a:off x="6400800" y="1463040"/>
            <a:ext cx="4754880" cy="10972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463040"/>
            <a:ext cx="64008" cy="10972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65392" y="1581912"/>
            <a:ext cx="446227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Example rule</a:t>
            </a:r>
          </a:p>
        </p:txBody>
      </p:sp>
      <p:sp>
        <p:nvSpPr>
          <p:cNvPr id="11" name="TextBox 10"/>
          <p:cNvSpPr txBox="1"/>
          <p:nvPr/>
        </p:nvSpPr>
        <p:spPr>
          <a:xfrm>
            <a:off x="6565392" y="1965960"/>
            <a:ext cx="4443984" cy="512063"/>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If expected delivery time has passed and no delivered event exists, mark shipment as at risk.</a:t>
            </a:r>
          </a:p>
        </p:txBody>
      </p:sp>
      <p:sp>
        <p:nvSpPr>
          <p:cNvPr id="12" name="Rounded Rectangle 11"/>
          <p:cNvSpPr/>
          <p:nvPr/>
        </p:nvSpPr>
        <p:spPr>
          <a:xfrm>
            <a:off x="6400800" y="2834640"/>
            <a:ext cx="4754880" cy="10972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834640"/>
            <a:ext cx="64008" cy="109728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2953512"/>
            <a:ext cx="446227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Example workflow</a:t>
            </a:r>
          </a:p>
        </p:txBody>
      </p:sp>
      <p:sp>
        <p:nvSpPr>
          <p:cNvPr id="15" name="TextBox 14"/>
          <p:cNvSpPr txBox="1"/>
          <p:nvPr/>
        </p:nvSpPr>
        <p:spPr>
          <a:xfrm>
            <a:off x="6565392" y="3337560"/>
            <a:ext cx="4443984" cy="512063"/>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Assign an owner, add a note, record a resolution and measure time to resolve.</a:t>
            </a:r>
          </a:p>
        </p:txBody>
      </p:sp>
      <p:sp>
        <p:nvSpPr>
          <p:cNvPr id="16" name="Rounded Rectangle 15"/>
          <p:cNvSpPr/>
          <p:nvPr/>
        </p:nvSpPr>
        <p:spPr>
          <a:xfrm>
            <a:off x="6400800" y="4206240"/>
            <a:ext cx="4754880" cy="10972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4206240"/>
            <a:ext cx="64008" cy="10972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4325112"/>
            <a:ext cx="446227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Important edge cases</a:t>
            </a:r>
          </a:p>
        </p:txBody>
      </p:sp>
      <p:sp>
        <p:nvSpPr>
          <p:cNvPr id="19" name="TextBox 18"/>
          <p:cNvSpPr txBox="1"/>
          <p:nvPr/>
        </p:nvSpPr>
        <p:spPr>
          <a:xfrm>
            <a:off x="6565392" y="4709159"/>
            <a:ext cx="4443984" cy="512063"/>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Duplicate events, out-of-order timestamps, missing events and retry behavior.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19. Predictive analytics: an extension, not the starting point</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INTELLIGENCE</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21</a:t>
            </a:r>
          </a:p>
        </p:txBody>
      </p:sp>
      <p:sp>
        <p:nvSpPr>
          <p:cNvPr id="7" name="TextBox 6"/>
          <p:cNvSpPr txBox="1"/>
          <p:nvPr/>
        </p:nvSpPr>
        <p:spPr>
          <a:xfrm>
            <a:off x="731520" y="1325880"/>
            <a:ext cx="5577840" cy="438912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First baseline: simple rule such as late if current time exceeds expected delivery time.</a:t>
            </a:r>
          </a:p>
          <a:p>
            <a:pPr>
              <a:spcAft>
                <a:spcPts val="500"/>
              </a:spcAft>
              <a:defRPr sz="1500">
                <a:solidFill>
                  <a:srgbClr val="232C38"/>
                </a:solidFill>
                <a:latin typeface="Aptos"/>
              </a:defRPr>
            </a:pPr>
            <a:r>
              <a:t>• Define the target: for example, whether a shipment will be late—only if reliable labels exist.</a:t>
            </a:r>
          </a:p>
          <a:p>
            <a:pPr>
              <a:spcAft>
                <a:spcPts val="500"/>
              </a:spcAft>
              <a:defRPr sz="1500">
                <a:solidFill>
                  <a:srgbClr val="232C38"/>
                </a:solidFill>
                <a:latin typeface="Aptos"/>
              </a:defRPr>
            </a:pPr>
            <a:r>
              <a:t>• Build features: route, supplier history, planned lead time, weekday and past delay rate.</a:t>
            </a:r>
          </a:p>
          <a:p>
            <a:pPr>
              <a:spcAft>
                <a:spcPts val="500"/>
              </a:spcAft>
              <a:defRPr sz="1500">
                <a:solidFill>
                  <a:srgbClr val="232C38"/>
                </a:solidFill>
                <a:latin typeface="Aptos"/>
              </a:defRPr>
            </a:pPr>
            <a:r>
              <a:t>• Split correctly: use time-aware splits when future data must not leak into training.</a:t>
            </a:r>
          </a:p>
          <a:p>
            <a:pPr>
              <a:spcAft>
                <a:spcPts val="500"/>
              </a:spcAft>
              <a:defRPr sz="1500">
                <a:solidFill>
                  <a:srgbClr val="232C38"/>
                </a:solidFill>
                <a:latin typeface="Aptos"/>
              </a:defRPr>
            </a:pPr>
            <a:r>
              <a:t>• Evaluate: precision, recall, F1 and confusion matrix; compare against the baseline.</a:t>
            </a:r>
          </a:p>
          <a:p>
            <a:pPr>
              <a:spcAft>
                <a:spcPts val="500"/>
              </a:spcAft>
              <a:defRPr sz="1500">
                <a:solidFill>
                  <a:srgbClr val="232C38"/>
                </a:solidFill>
                <a:latin typeface="Aptos"/>
              </a:defRPr>
            </a:pPr>
            <a:r>
              <a:t>• Serve carefully: show risk score, relevant factors and model version; avoid presenting estimates as certainty.</a:t>
            </a:r>
          </a:p>
        </p:txBody>
      </p:sp>
      <p:sp>
        <p:nvSpPr>
          <p:cNvPr id="8" name="Rounded Rectangle 7"/>
          <p:cNvSpPr/>
          <p:nvPr/>
        </p:nvSpPr>
        <p:spPr>
          <a:xfrm>
            <a:off x="6720840" y="1508760"/>
            <a:ext cx="448056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20840" y="1508760"/>
            <a:ext cx="64008" cy="132588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85431" y="1627631"/>
            <a:ext cx="418795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Do not fake results</a:t>
            </a:r>
          </a:p>
        </p:txBody>
      </p:sp>
      <p:sp>
        <p:nvSpPr>
          <p:cNvPr id="11" name="TextBox 10"/>
          <p:cNvSpPr txBox="1"/>
          <p:nvPr/>
        </p:nvSpPr>
        <p:spPr>
          <a:xfrm>
            <a:off x="6885431" y="2011680"/>
            <a:ext cx="416966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Use actual held-out evaluation. If labels are synthetic, disclose that clearly.</a:t>
            </a:r>
          </a:p>
        </p:txBody>
      </p:sp>
      <p:sp>
        <p:nvSpPr>
          <p:cNvPr id="12" name="Rounded Rectangle 11"/>
          <p:cNvSpPr/>
          <p:nvPr/>
        </p:nvSpPr>
        <p:spPr>
          <a:xfrm>
            <a:off x="6720840" y="3154680"/>
            <a:ext cx="448056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3154680"/>
            <a:ext cx="64008" cy="13258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85431" y="3273552"/>
            <a:ext cx="418795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Avoid data leakage</a:t>
            </a:r>
          </a:p>
        </p:txBody>
      </p:sp>
      <p:sp>
        <p:nvSpPr>
          <p:cNvPr id="15" name="TextBox 14"/>
          <p:cNvSpPr txBox="1"/>
          <p:nvPr/>
        </p:nvSpPr>
        <p:spPr>
          <a:xfrm>
            <a:off x="6885431" y="3657600"/>
            <a:ext cx="416966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Do not train with fields that would only become available after the prediction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20. Testing strategy</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QUALITY</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22</a:t>
            </a:r>
          </a:p>
        </p:txBody>
      </p:sp>
      <p:sp>
        <p:nvSpPr>
          <p:cNvPr id="7" name="Rounded Rectangle 6"/>
          <p:cNvSpPr/>
          <p:nvPr/>
        </p:nvSpPr>
        <p:spPr>
          <a:xfrm>
            <a:off x="685800" y="137160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71600"/>
            <a:ext cx="64008" cy="182880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Unit tests</a:t>
            </a:r>
          </a:p>
        </p:txBody>
      </p:sp>
      <p:sp>
        <p:nvSpPr>
          <p:cNvPr id="10" name="TextBox 9"/>
          <p:cNvSpPr txBox="1"/>
          <p:nvPr/>
        </p:nvSpPr>
        <p:spPr>
          <a:xfrm>
            <a:off x="850392" y="1874519"/>
            <a:ext cx="3163824" cy="124358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Test small functions: validators, KPI calculations, status transition rules.</a:t>
            </a:r>
          </a:p>
        </p:txBody>
      </p:sp>
      <p:sp>
        <p:nvSpPr>
          <p:cNvPr id="11" name="Rounded Rectangle 10"/>
          <p:cNvSpPr/>
          <p:nvPr/>
        </p:nvSpPr>
        <p:spPr>
          <a:xfrm>
            <a:off x="4343400" y="137160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371600"/>
            <a:ext cx="64008" cy="182880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Integration tests</a:t>
            </a:r>
          </a:p>
        </p:txBody>
      </p:sp>
      <p:sp>
        <p:nvSpPr>
          <p:cNvPr id="14" name="TextBox 13"/>
          <p:cNvSpPr txBox="1"/>
          <p:nvPr/>
        </p:nvSpPr>
        <p:spPr>
          <a:xfrm>
            <a:off x="4507992" y="1874519"/>
            <a:ext cx="3163824" cy="124358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Test API + database behavior, transactions, constraints and pipeline loading.</a:t>
            </a:r>
          </a:p>
        </p:txBody>
      </p:sp>
      <p:sp>
        <p:nvSpPr>
          <p:cNvPr id="15" name="Rounded Rectangle 14"/>
          <p:cNvSpPr/>
          <p:nvPr/>
        </p:nvSpPr>
        <p:spPr>
          <a:xfrm>
            <a:off x="8001000" y="137160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371600"/>
            <a:ext cx="64008" cy="182880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End-to-end tests</a:t>
            </a:r>
          </a:p>
        </p:txBody>
      </p:sp>
      <p:sp>
        <p:nvSpPr>
          <p:cNvPr id="18" name="TextBox 17"/>
          <p:cNvSpPr txBox="1"/>
          <p:nvPr/>
        </p:nvSpPr>
        <p:spPr>
          <a:xfrm>
            <a:off x="8165592" y="1874519"/>
            <a:ext cx="3163824" cy="124358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Test a user journey through the frontend, API and database.</a:t>
            </a:r>
          </a:p>
        </p:txBody>
      </p:sp>
      <p:sp>
        <p:nvSpPr>
          <p:cNvPr id="19" name="TextBox 18"/>
          <p:cNvSpPr txBox="1"/>
          <p:nvPr/>
        </p:nvSpPr>
        <p:spPr>
          <a:xfrm>
            <a:off x="868680" y="3703320"/>
            <a:ext cx="10424160" cy="155448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Include valid inputs, invalid inputs, missing records, duplicate data and failure recovery.</a:t>
            </a:r>
          </a:p>
          <a:p>
            <a:pPr>
              <a:spcAft>
                <a:spcPts val="500"/>
              </a:spcAft>
              <a:defRPr sz="1500">
                <a:solidFill>
                  <a:srgbClr val="232C38"/>
                </a:solidFill>
                <a:latin typeface="Aptos"/>
              </a:defRPr>
            </a:pPr>
            <a:r>
              <a:t>• Keep test data small, deterministic and separate from real user data.</a:t>
            </a:r>
          </a:p>
          <a:p>
            <a:pPr>
              <a:spcAft>
                <a:spcPts val="500"/>
              </a:spcAft>
              <a:defRPr sz="1500">
                <a:solidFill>
                  <a:srgbClr val="232C38"/>
                </a:solidFill>
                <a:latin typeface="Aptos"/>
              </a:defRPr>
            </a:pPr>
            <a:r>
              <a:t>• Run tests locally and in CI before merging changes.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21. Security, privacy and configuration</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QUALITY</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23</a:t>
            </a:r>
          </a:p>
        </p:txBody>
      </p:sp>
      <p:sp>
        <p:nvSpPr>
          <p:cNvPr id="7" name="TextBox 6"/>
          <p:cNvSpPr txBox="1"/>
          <p:nvPr/>
        </p:nvSpPr>
        <p:spPr>
          <a:xfrm>
            <a:off x="777240" y="1325880"/>
            <a:ext cx="10515600" cy="448056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Secrets: store credentials in environment variables or the hosting secret manager; commit only .env.example.</a:t>
            </a:r>
          </a:p>
          <a:p>
            <a:pPr>
              <a:spcAft>
                <a:spcPts val="500"/>
              </a:spcAft>
              <a:defRPr sz="1600">
                <a:solidFill>
                  <a:srgbClr val="232C38"/>
                </a:solidFill>
                <a:latin typeface="Aptos"/>
              </a:defRPr>
            </a:pPr>
            <a:r>
              <a:t>• Authentication: verify who the user is; use a maintained approach rather than inventing cryptography.</a:t>
            </a:r>
          </a:p>
          <a:p>
            <a:pPr>
              <a:spcAft>
                <a:spcPts val="500"/>
              </a:spcAft>
              <a:defRPr sz="1600">
                <a:solidFill>
                  <a:srgbClr val="232C38"/>
                </a:solidFill>
                <a:latin typeface="Aptos"/>
              </a:defRPr>
            </a:pPr>
            <a:r>
              <a:t>• Authorization: check what each role is allowed to do on the server.</a:t>
            </a:r>
          </a:p>
          <a:p>
            <a:pPr>
              <a:spcAft>
                <a:spcPts val="500"/>
              </a:spcAft>
              <a:defRPr sz="1600">
                <a:solidFill>
                  <a:srgbClr val="232C38"/>
                </a:solidFill>
                <a:latin typeface="Aptos"/>
              </a:defRPr>
            </a:pPr>
            <a:r>
              <a:t>• Input handling: validate uploaded files, payload size, file types and business rules.</a:t>
            </a:r>
          </a:p>
          <a:p>
            <a:pPr>
              <a:spcAft>
                <a:spcPts val="500"/>
              </a:spcAft>
              <a:defRPr sz="1600">
                <a:solidFill>
                  <a:srgbClr val="232C38"/>
                </a:solidFill>
                <a:latin typeface="Aptos"/>
              </a:defRPr>
            </a:pPr>
            <a:r>
              <a:t>• Database safety: use parameterized queries/ORM and least-privilege credentials.</a:t>
            </a:r>
          </a:p>
          <a:p>
            <a:pPr>
              <a:spcAft>
                <a:spcPts val="500"/>
              </a:spcAft>
              <a:defRPr sz="1600">
                <a:solidFill>
                  <a:srgbClr val="232C38"/>
                </a:solidFill>
                <a:latin typeface="Aptos"/>
              </a:defRPr>
            </a:pPr>
            <a:r>
              <a:t>• Data privacy: use public, synthetic or properly licensed data; do not commit private shipment/customer information.</a:t>
            </a:r>
          </a:p>
          <a:p>
            <a:pPr>
              <a:spcAft>
                <a:spcPts val="500"/>
              </a:spcAft>
              <a:defRPr sz="1600">
                <a:solidFill>
                  <a:srgbClr val="232C38"/>
                </a:solidFill>
                <a:latin typeface="Aptos"/>
              </a:defRPr>
            </a:pPr>
            <a:r>
              <a:t>• Operations: avoid logging passwords, tokens or sensitive payloads.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22. CI/CD and deployment pipeline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DELIVERY</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24</a:t>
            </a:r>
          </a:p>
        </p:txBody>
      </p:sp>
      <p:sp>
        <p:nvSpPr>
          <p:cNvPr id="7" name="Rounded Rectangle 6"/>
          <p:cNvSpPr/>
          <p:nvPr/>
        </p:nvSpPr>
        <p:spPr>
          <a:xfrm>
            <a:off x="685800"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828800"/>
            <a:ext cx="64008" cy="164592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Code</a:t>
            </a:r>
          </a:p>
        </p:txBody>
      </p:sp>
      <p:sp>
        <p:nvSpPr>
          <p:cNvPr id="10" name="TextBox 9"/>
          <p:cNvSpPr txBox="1"/>
          <p:nvPr/>
        </p:nvSpPr>
        <p:spPr>
          <a:xfrm>
            <a:off x="850392"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push branch</a:t>
            </a:r>
          </a:p>
        </p:txBody>
      </p:sp>
      <p:sp>
        <p:nvSpPr>
          <p:cNvPr id="11" name="TextBox 10"/>
          <p:cNvSpPr txBox="1"/>
          <p:nvPr/>
        </p:nvSpPr>
        <p:spPr>
          <a:xfrm>
            <a:off x="2368296" y="2468880"/>
            <a:ext cx="201168"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12" name="Rounded Rectangle 11"/>
          <p:cNvSpPr/>
          <p:nvPr/>
        </p:nvSpPr>
        <p:spPr>
          <a:xfrm>
            <a:off x="2587752"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87752" y="1828800"/>
            <a:ext cx="64008" cy="164592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52344"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CI</a:t>
            </a:r>
          </a:p>
        </p:txBody>
      </p:sp>
      <p:sp>
        <p:nvSpPr>
          <p:cNvPr id="15" name="TextBox 14"/>
          <p:cNvSpPr txBox="1"/>
          <p:nvPr/>
        </p:nvSpPr>
        <p:spPr>
          <a:xfrm>
            <a:off x="2752344"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lint + tests</a:t>
            </a:r>
          </a:p>
        </p:txBody>
      </p:sp>
      <p:sp>
        <p:nvSpPr>
          <p:cNvPr id="16" name="TextBox 15"/>
          <p:cNvSpPr txBox="1"/>
          <p:nvPr/>
        </p:nvSpPr>
        <p:spPr>
          <a:xfrm>
            <a:off x="4270248" y="2468880"/>
            <a:ext cx="201168"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17" name="Rounded Rectangle 16"/>
          <p:cNvSpPr/>
          <p:nvPr/>
        </p:nvSpPr>
        <p:spPr>
          <a:xfrm>
            <a:off x="4489704"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9704" y="1828800"/>
            <a:ext cx="64008" cy="164592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Build</a:t>
            </a:r>
          </a:p>
        </p:txBody>
      </p:sp>
      <p:sp>
        <p:nvSpPr>
          <p:cNvPr id="20" name="TextBox 19"/>
          <p:cNvSpPr txBox="1"/>
          <p:nvPr/>
        </p:nvSpPr>
        <p:spPr>
          <a:xfrm>
            <a:off x="4654296"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package app</a:t>
            </a:r>
          </a:p>
        </p:txBody>
      </p:sp>
      <p:sp>
        <p:nvSpPr>
          <p:cNvPr id="21" name="TextBox 20"/>
          <p:cNvSpPr txBox="1"/>
          <p:nvPr/>
        </p:nvSpPr>
        <p:spPr>
          <a:xfrm>
            <a:off x="6172200" y="2468880"/>
            <a:ext cx="201168"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22" name="Rounded Rectangle 21"/>
          <p:cNvSpPr/>
          <p:nvPr/>
        </p:nvSpPr>
        <p:spPr>
          <a:xfrm>
            <a:off x="6391656"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91656" y="1828800"/>
            <a:ext cx="64008" cy="164592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Deploy</a:t>
            </a:r>
          </a:p>
        </p:txBody>
      </p:sp>
      <p:sp>
        <p:nvSpPr>
          <p:cNvPr id="25" name="TextBox 24"/>
          <p:cNvSpPr txBox="1"/>
          <p:nvPr/>
        </p:nvSpPr>
        <p:spPr>
          <a:xfrm>
            <a:off x="6556248"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staging/demo</a:t>
            </a:r>
          </a:p>
        </p:txBody>
      </p:sp>
      <p:sp>
        <p:nvSpPr>
          <p:cNvPr id="26" name="TextBox 25"/>
          <p:cNvSpPr txBox="1"/>
          <p:nvPr/>
        </p:nvSpPr>
        <p:spPr>
          <a:xfrm>
            <a:off x="8074152" y="2468880"/>
            <a:ext cx="201168"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27" name="Rounded Rectangle 26"/>
          <p:cNvSpPr/>
          <p:nvPr/>
        </p:nvSpPr>
        <p:spPr>
          <a:xfrm>
            <a:off x="8293608"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8" y="1828800"/>
            <a:ext cx="64008" cy="164592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Verify</a:t>
            </a:r>
          </a:p>
        </p:txBody>
      </p:sp>
      <p:sp>
        <p:nvSpPr>
          <p:cNvPr id="30" name="TextBox 29"/>
          <p:cNvSpPr txBox="1"/>
          <p:nvPr/>
        </p:nvSpPr>
        <p:spPr>
          <a:xfrm>
            <a:off x="8458200"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health check</a:t>
            </a:r>
          </a:p>
        </p:txBody>
      </p:sp>
      <p:sp>
        <p:nvSpPr>
          <p:cNvPr id="31" name="TextBox 30"/>
          <p:cNvSpPr txBox="1"/>
          <p:nvPr/>
        </p:nvSpPr>
        <p:spPr>
          <a:xfrm>
            <a:off x="9976104" y="2468880"/>
            <a:ext cx="201168" cy="274320"/>
          </a:xfrm>
          <a:prstGeom prst="rect">
            <a:avLst/>
          </a:prstGeom>
          <a:noFill/>
        </p:spPr>
        <p:txBody>
          <a:bodyPr wrap="square" lIns="54864" rIns="54864" tIns="54864" bIns="54864" anchor="t">
            <a:spAutoFit/>
          </a:bodyPr>
          <a:lstStyle/>
          <a:p>
            <a:pPr algn="ctr">
              <a:spcAft>
                <a:spcPts val="500"/>
              </a:spcAft>
              <a:defRPr sz="1400" b="1">
                <a:solidFill>
                  <a:srgbClr val="5C6C80"/>
                </a:solidFill>
                <a:latin typeface="Aptos"/>
              </a:defRPr>
            </a:pPr>
            <a:r>
              <a:t>→</a:t>
            </a:r>
          </a:p>
        </p:txBody>
      </p:sp>
      <p:sp>
        <p:nvSpPr>
          <p:cNvPr id="32" name="Rounded Rectangle 31"/>
          <p:cNvSpPr/>
          <p:nvPr/>
        </p:nvSpPr>
        <p:spPr>
          <a:xfrm>
            <a:off x="10195560" y="1828800"/>
            <a:ext cx="169164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95560" y="1828800"/>
            <a:ext cx="64008" cy="1645920"/>
          </a:xfrm>
          <a:prstGeom prst="rect">
            <a:avLst/>
          </a:prstGeom>
          <a:solidFill>
            <a:srgbClr val="3791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60152" y="1947672"/>
            <a:ext cx="139903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Observe</a:t>
            </a:r>
          </a:p>
        </p:txBody>
      </p:sp>
      <p:sp>
        <p:nvSpPr>
          <p:cNvPr id="35" name="TextBox 34"/>
          <p:cNvSpPr txBox="1"/>
          <p:nvPr/>
        </p:nvSpPr>
        <p:spPr>
          <a:xfrm>
            <a:off x="10360152" y="2331720"/>
            <a:ext cx="1380744" cy="106070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logs + errors</a:t>
            </a:r>
          </a:p>
        </p:txBody>
      </p:sp>
      <p:sp>
        <p:nvSpPr>
          <p:cNvPr id="36" name="TextBox 35"/>
          <p:cNvSpPr txBox="1"/>
          <p:nvPr/>
        </p:nvSpPr>
        <p:spPr>
          <a:xfrm>
            <a:off x="868680" y="4069080"/>
            <a:ext cx="10241280" cy="1371600"/>
          </a:xfrm>
          <a:prstGeom prst="rect">
            <a:avLst/>
          </a:prstGeom>
          <a:noFill/>
        </p:spPr>
        <p:txBody>
          <a:bodyPr wrap="square" lIns="109728" rIns="73152" tIns="73152">
            <a:spAutoFit/>
          </a:bodyPr>
          <a:lstStyle/>
          <a:p>
            <a:pPr>
              <a:spcAft>
                <a:spcPts val="500"/>
              </a:spcAft>
              <a:defRPr sz="1400">
                <a:solidFill>
                  <a:srgbClr val="232C38"/>
                </a:solidFill>
                <a:latin typeface="Aptos"/>
              </a:defRPr>
            </a:pPr>
            <a:r>
              <a:t>• Docker packages the application consistently; it does not automatically make the app secure or scalable.</a:t>
            </a:r>
          </a:p>
          <a:p>
            <a:pPr>
              <a:spcAft>
                <a:spcPts val="500"/>
              </a:spcAft>
              <a:defRPr sz="1400">
                <a:solidFill>
                  <a:srgbClr val="232C38"/>
                </a:solidFill>
                <a:latin typeface="Aptos"/>
              </a:defRPr>
            </a:pPr>
            <a:r>
              <a:t>• Use separate development and production configuration, migrations, health checks and rollback notes.</a:t>
            </a:r>
          </a:p>
          <a:p>
            <a:pPr>
              <a:spcAft>
                <a:spcPts val="500"/>
              </a:spcAft>
              <a:defRPr sz="1400">
                <a:solidFill>
                  <a:srgbClr val="232C38"/>
                </a:solidFill>
                <a:latin typeface="Aptos"/>
              </a:defRPr>
            </a:pPr>
            <a:r>
              <a:t>• Start with the simplest host that supports the app; document any free-tier limits.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23. Monitoring, reliability and runbooks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OPERATIONS</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25</a:t>
            </a:r>
          </a:p>
        </p:txBody>
      </p:sp>
      <p:sp>
        <p:nvSpPr>
          <p:cNvPr id="7" name="Rounded Rectangle 6"/>
          <p:cNvSpPr/>
          <p:nvPr/>
        </p:nvSpPr>
        <p:spPr>
          <a:xfrm>
            <a:off x="685800" y="1371600"/>
            <a:ext cx="3474720" cy="14630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71600"/>
            <a:ext cx="64008" cy="14630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Application health</a:t>
            </a:r>
          </a:p>
        </p:txBody>
      </p:sp>
      <p:sp>
        <p:nvSpPr>
          <p:cNvPr id="10" name="TextBox 9"/>
          <p:cNvSpPr txBox="1"/>
          <p:nvPr/>
        </p:nvSpPr>
        <p:spPr>
          <a:xfrm>
            <a:off x="850392" y="1874519"/>
            <a:ext cx="3163824" cy="8778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Request errors, response time, availability and health endpoint.</a:t>
            </a:r>
          </a:p>
        </p:txBody>
      </p:sp>
      <p:sp>
        <p:nvSpPr>
          <p:cNvPr id="11" name="Rounded Rectangle 10"/>
          <p:cNvSpPr/>
          <p:nvPr/>
        </p:nvSpPr>
        <p:spPr>
          <a:xfrm>
            <a:off x="4343400" y="1371600"/>
            <a:ext cx="3474720" cy="14630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371600"/>
            <a:ext cx="64008" cy="14630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Pipeline health</a:t>
            </a:r>
          </a:p>
        </p:txBody>
      </p:sp>
      <p:sp>
        <p:nvSpPr>
          <p:cNvPr id="14" name="TextBox 13"/>
          <p:cNvSpPr txBox="1"/>
          <p:nvPr/>
        </p:nvSpPr>
        <p:spPr>
          <a:xfrm>
            <a:off x="4507992" y="1874519"/>
            <a:ext cx="3163824" cy="8778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Last successful run, runtime, rows read/loaded/rejected and freshness.</a:t>
            </a:r>
          </a:p>
        </p:txBody>
      </p:sp>
      <p:sp>
        <p:nvSpPr>
          <p:cNvPr id="15" name="Rounded Rectangle 14"/>
          <p:cNvSpPr/>
          <p:nvPr/>
        </p:nvSpPr>
        <p:spPr>
          <a:xfrm>
            <a:off x="8001000" y="1371600"/>
            <a:ext cx="3474720" cy="14630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371600"/>
            <a:ext cx="64008" cy="14630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Data health</a:t>
            </a:r>
          </a:p>
        </p:txBody>
      </p:sp>
      <p:sp>
        <p:nvSpPr>
          <p:cNvPr id="18" name="TextBox 17"/>
          <p:cNvSpPr txBox="1"/>
          <p:nvPr/>
        </p:nvSpPr>
        <p:spPr>
          <a:xfrm>
            <a:off x="8165592" y="1874519"/>
            <a:ext cx="3163824" cy="87782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Null rates, duplicates, invalid ranges and unexpected volume changes.</a:t>
            </a:r>
          </a:p>
        </p:txBody>
      </p:sp>
      <p:sp>
        <p:nvSpPr>
          <p:cNvPr id="19" name="TextBox 18"/>
          <p:cNvSpPr txBox="1"/>
          <p:nvPr/>
        </p:nvSpPr>
        <p:spPr>
          <a:xfrm>
            <a:off x="822960" y="3429000"/>
            <a:ext cx="10424160" cy="411480"/>
          </a:xfrm>
          <a:prstGeom prst="rect">
            <a:avLst/>
          </a:prstGeom>
          <a:noFill/>
        </p:spPr>
        <p:txBody>
          <a:bodyPr wrap="square" lIns="54864" rIns="54864" tIns="54864" bIns="54864" anchor="t">
            <a:spAutoFit/>
          </a:bodyPr>
          <a:lstStyle/>
          <a:p>
            <a:pPr>
              <a:spcAft>
                <a:spcPts val="500"/>
              </a:spcAft>
              <a:defRPr sz="1800" b="1">
                <a:solidFill>
                  <a:srgbClr val="14233C"/>
                </a:solidFill>
                <a:latin typeface="Aptos"/>
              </a:defRPr>
            </a:pPr>
            <a:r>
              <a:t>Every important failure should answer four questions:</a:t>
            </a:r>
          </a:p>
        </p:txBody>
      </p:sp>
      <p:sp>
        <p:nvSpPr>
          <p:cNvPr id="20" name="TextBox 19"/>
          <p:cNvSpPr txBox="1"/>
          <p:nvPr/>
        </p:nvSpPr>
        <p:spPr>
          <a:xfrm>
            <a:off x="914400" y="3886200"/>
            <a:ext cx="10058400" cy="137160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What failed?  •  When did it fail?  •  What data or user workflow was affected?  •  How can it be retried or recovered?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24. Implementation roadmap and milestones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PLAN</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26</a:t>
            </a:r>
          </a:p>
        </p:txBody>
      </p:sp>
      <p:sp>
        <p:nvSpPr>
          <p:cNvPr id="7" name="Rounded Rectangle 6"/>
          <p:cNvSpPr/>
          <p:nvPr/>
        </p:nvSpPr>
        <p:spPr>
          <a:xfrm>
            <a:off x="640080" y="132588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325880"/>
            <a:ext cx="64008" cy="1234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44475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M0 • Project setup</a:t>
            </a:r>
          </a:p>
        </p:txBody>
      </p:sp>
      <p:sp>
        <p:nvSpPr>
          <p:cNvPr id="10" name="TextBox 9"/>
          <p:cNvSpPr txBox="1"/>
          <p:nvPr/>
        </p:nvSpPr>
        <p:spPr>
          <a:xfrm>
            <a:off x="804671" y="182880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Repo, README, environment, issue board</a:t>
            </a:r>
          </a:p>
        </p:txBody>
      </p:sp>
      <p:sp>
        <p:nvSpPr>
          <p:cNvPr id="11" name="Rounded Rectangle 10"/>
          <p:cNvSpPr/>
          <p:nvPr/>
        </p:nvSpPr>
        <p:spPr>
          <a:xfrm>
            <a:off x="4480560" y="132588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325880"/>
            <a:ext cx="64008" cy="1234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44475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M1 • API basics</a:t>
            </a:r>
          </a:p>
        </p:txBody>
      </p:sp>
      <p:sp>
        <p:nvSpPr>
          <p:cNvPr id="14" name="TextBox 13"/>
          <p:cNvSpPr txBox="1"/>
          <p:nvPr/>
        </p:nvSpPr>
        <p:spPr>
          <a:xfrm>
            <a:off x="4645152" y="182880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Health route, product CRUD, API tests</a:t>
            </a:r>
          </a:p>
        </p:txBody>
      </p:sp>
      <p:sp>
        <p:nvSpPr>
          <p:cNvPr id="15" name="Rounded Rectangle 14"/>
          <p:cNvSpPr/>
          <p:nvPr/>
        </p:nvSpPr>
        <p:spPr>
          <a:xfrm>
            <a:off x="8321040" y="132588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1325880"/>
            <a:ext cx="64008" cy="1234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144475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M2 • Database</a:t>
            </a:r>
          </a:p>
        </p:txBody>
      </p:sp>
      <p:sp>
        <p:nvSpPr>
          <p:cNvPr id="18" name="TextBox 17"/>
          <p:cNvSpPr txBox="1"/>
          <p:nvPr/>
        </p:nvSpPr>
        <p:spPr>
          <a:xfrm>
            <a:off x="8485632" y="182880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PostgreSQL, migrations, relational CRUD</a:t>
            </a:r>
          </a:p>
        </p:txBody>
      </p:sp>
      <p:sp>
        <p:nvSpPr>
          <p:cNvPr id="19" name="Rounded Rectangle 18"/>
          <p:cNvSpPr/>
          <p:nvPr/>
        </p:nvSpPr>
        <p:spPr>
          <a:xfrm>
            <a:off x="640080" y="2834639"/>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834639"/>
            <a:ext cx="64008" cy="1234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953511"/>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M3 • Frontend</a:t>
            </a:r>
          </a:p>
        </p:txBody>
      </p:sp>
      <p:sp>
        <p:nvSpPr>
          <p:cNvPr id="22" name="TextBox 21"/>
          <p:cNvSpPr txBox="1"/>
          <p:nvPr/>
        </p:nvSpPr>
        <p:spPr>
          <a:xfrm>
            <a:off x="804671" y="3337559"/>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Forms, tables, API integration</a:t>
            </a:r>
          </a:p>
        </p:txBody>
      </p:sp>
      <p:sp>
        <p:nvSpPr>
          <p:cNvPr id="23" name="Rounded Rectangle 22"/>
          <p:cNvSpPr/>
          <p:nvPr/>
        </p:nvSpPr>
        <p:spPr>
          <a:xfrm>
            <a:off x="4480560" y="2834639"/>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834639"/>
            <a:ext cx="64008" cy="1234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2953511"/>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M4 • Core workflows</a:t>
            </a:r>
          </a:p>
        </p:txBody>
      </p:sp>
      <p:sp>
        <p:nvSpPr>
          <p:cNvPr id="26" name="TextBox 25"/>
          <p:cNvSpPr txBox="1"/>
          <p:nvPr/>
        </p:nvSpPr>
        <p:spPr>
          <a:xfrm>
            <a:off x="4645152" y="3337559"/>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Orders, inventory, shipments, events</a:t>
            </a:r>
          </a:p>
        </p:txBody>
      </p:sp>
      <p:sp>
        <p:nvSpPr>
          <p:cNvPr id="27" name="Rounded Rectangle 26"/>
          <p:cNvSpPr/>
          <p:nvPr/>
        </p:nvSpPr>
        <p:spPr>
          <a:xfrm>
            <a:off x="8321040" y="2834639"/>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0" y="2834639"/>
            <a:ext cx="64008" cy="1234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85632" y="2953511"/>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M5 • Data pipeline</a:t>
            </a:r>
          </a:p>
        </p:txBody>
      </p:sp>
      <p:sp>
        <p:nvSpPr>
          <p:cNvPr id="30" name="TextBox 29"/>
          <p:cNvSpPr txBox="1"/>
          <p:nvPr/>
        </p:nvSpPr>
        <p:spPr>
          <a:xfrm>
            <a:off x="8485632" y="3337559"/>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Ingestion, validation, rejects, run history</a:t>
            </a:r>
          </a:p>
        </p:txBody>
      </p:sp>
      <p:sp>
        <p:nvSpPr>
          <p:cNvPr id="31" name="Rounded Rectangle 30"/>
          <p:cNvSpPr/>
          <p:nvPr/>
        </p:nvSpPr>
        <p:spPr>
          <a:xfrm>
            <a:off x="640080" y="434340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343400"/>
            <a:ext cx="64008" cy="123444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46227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M6 • Analytics</a:t>
            </a:r>
          </a:p>
        </p:txBody>
      </p:sp>
      <p:sp>
        <p:nvSpPr>
          <p:cNvPr id="34" name="TextBox 33"/>
          <p:cNvSpPr txBox="1"/>
          <p:nvPr/>
        </p:nvSpPr>
        <p:spPr>
          <a:xfrm>
            <a:off x="804671" y="484632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SQL KPIs, dashboard and reconciliation</a:t>
            </a:r>
          </a:p>
        </p:txBody>
      </p:sp>
      <p:sp>
        <p:nvSpPr>
          <p:cNvPr id="35" name="Rounded Rectangle 34"/>
          <p:cNvSpPr/>
          <p:nvPr/>
        </p:nvSpPr>
        <p:spPr>
          <a:xfrm>
            <a:off x="4480560" y="434340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0560" y="4343400"/>
            <a:ext cx="64008" cy="123444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5152" y="446227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M7 • Release</a:t>
            </a:r>
          </a:p>
        </p:txBody>
      </p:sp>
      <p:sp>
        <p:nvSpPr>
          <p:cNvPr id="38" name="TextBox 37"/>
          <p:cNvSpPr txBox="1"/>
          <p:nvPr/>
        </p:nvSpPr>
        <p:spPr>
          <a:xfrm>
            <a:off x="4645152" y="484632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Auth, security, CI/CD, Docker, deployment</a:t>
            </a:r>
          </a:p>
        </p:txBody>
      </p:sp>
      <p:sp>
        <p:nvSpPr>
          <p:cNvPr id="39" name="Rounded Rectangle 38"/>
          <p:cNvSpPr/>
          <p:nvPr/>
        </p:nvSpPr>
        <p:spPr>
          <a:xfrm>
            <a:off x="8321040" y="4343400"/>
            <a:ext cx="352044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21040" y="4343400"/>
            <a:ext cx="64008" cy="123444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85632" y="4462272"/>
            <a:ext cx="3227832" cy="320040"/>
          </a:xfrm>
          <a:prstGeom prst="rect">
            <a:avLst/>
          </a:prstGeom>
          <a:noFill/>
        </p:spPr>
        <p:txBody>
          <a:bodyPr wrap="square" lIns="54864" rIns="54864" tIns="54864" bIns="54864" anchor="t">
            <a:spAutoFit/>
          </a:bodyPr>
          <a:lstStyle/>
          <a:p>
            <a:pPr>
              <a:spcAft>
                <a:spcPts val="500"/>
              </a:spcAft>
              <a:defRPr sz="1300" b="1">
                <a:solidFill>
                  <a:srgbClr val="14233C"/>
                </a:solidFill>
                <a:latin typeface="Aptos"/>
              </a:defRPr>
            </a:pPr>
            <a:r>
              <a:t>M8 • Advanced</a:t>
            </a:r>
          </a:p>
        </p:txBody>
      </p:sp>
      <p:sp>
        <p:nvSpPr>
          <p:cNvPr id="42" name="TextBox 41"/>
          <p:cNvSpPr txBox="1"/>
          <p:nvPr/>
        </p:nvSpPr>
        <p:spPr>
          <a:xfrm>
            <a:off x="8485632" y="4846320"/>
            <a:ext cx="3209544" cy="649224"/>
          </a:xfrm>
          <a:prstGeom prst="rect">
            <a:avLst/>
          </a:prstGeom>
          <a:noFill/>
        </p:spPr>
        <p:txBody>
          <a:bodyPr wrap="square" lIns="54864" rIns="54864" tIns="54864" bIns="54864" anchor="t">
            <a:spAutoFit/>
          </a:bodyPr>
          <a:lstStyle/>
          <a:p>
            <a:pPr>
              <a:spcAft>
                <a:spcPts val="500"/>
              </a:spcAft>
              <a:defRPr sz="1000" b="0">
                <a:solidFill>
                  <a:srgbClr val="232C38"/>
                </a:solidFill>
                <a:latin typeface="Aptos"/>
              </a:defRPr>
            </a:pPr>
            <a:r>
              <a:t>PySpark, events, forecasting, benchmarks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25. Beginner-friendly learning sequence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PLAN</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27</a:t>
            </a:r>
          </a:p>
        </p:txBody>
      </p:sp>
      <p:sp>
        <p:nvSpPr>
          <p:cNvPr id="7" name="TextBox 6"/>
          <p:cNvSpPr txBox="1"/>
          <p:nvPr/>
        </p:nvSpPr>
        <p:spPr>
          <a:xfrm>
            <a:off x="777240" y="1280160"/>
            <a:ext cx="10515600" cy="466344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Weeks 1–2: Git/GitHub, terminal, Python environment, HTTP, JSON and simple FastAPI endpoint.</a:t>
            </a:r>
          </a:p>
          <a:p>
            <a:pPr>
              <a:spcAft>
                <a:spcPts val="500"/>
              </a:spcAft>
              <a:defRPr sz="1500">
                <a:solidFill>
                  <a:srgbClr val="232C38"/>
                </a:solidFill>
                <a:latin typeface="Aptos"/>
              </a:defRPr>
            </a:pPr>
            <a:r>
              <a:t>• Weeks 3–4: SQL fundamentals, PostgreSQL, data model, migrations and API-to-database connection.</a:t>
            </a:r>
          </a:p>
          <a:p>
            <a:pPr>
              <a:spcAft>
                <a:spcPts val="500"/>
              </a:spcAft>
              <a:defRPr sz="1500">
                <a:solidFill>
                  <a:srgbClr val="232C38"/>
                </a:solidFill>
                <a:latin typeface="Aptos"/>
              </a:defRPr>
            </a:pPr>
            <a:r>
              <a:t>• Weeks 5–6: React basics and frontend-to-API integration; implement one complete CRUD workflow.</a:t>
            </a:r>
          </a:p>
          <a:p>
            <a:pPr>
              <a:spcAft>
                <a:spcPts val="500"/>
              </a:spcAft>
              <a:defRPr sz="1500">
                <a:solidFill>
                  <a:srgbClr val="232C38"/>
                </a:solidFill>
                <a:latin typeface="Aptos"/>
              </a:defRPr>
            </a:pPr>
            <a:r>
              <a:t>• Weeks 7–8: Orders, inventory, shipments, status history and automated tests.</a:t>
            </a:r>
          </a:p>
          <a:p>
            <a:pPr>
              <a:spcAft>
                <a:spcPts val="500"/>
              </a:spcAft>
              <a:defRPr sz="1500">
                <a:solidFill>
                  <a:srgbClr val="232C38"/>
                </a:solidFill>
                <a:latin typeface="Aptos"/>
              </a:defRPr>
            </a:pPr>
            <a:r>
              <a:t>• Weeks 9–10: Data ingestion, validation, idempotency, error reporting and pipeline run history.</a:t>
            </a:r>
          </a:p>
          <a:p>
            <a:pPr>
              <a:spcAft>
                <a:spcPts val="500"/>
              </a:spcAft>
              <a:defRPr sz="1500">
                <a:solidFill>
                  <a:srgbClr val="232C38"/>
                </a:solidFill>
                <a:latin typeface="Aptos"/>
              </a:defRPr>
            </a:pPr>
            <a:r>
              <a:t>• Weeks 11–12: SQL analytics, dashboard, KPI definitions and reconciliation.</a:t>
            </a:r>
          </a:p>
          <a:p>
            <a:pPr>
              <a:spcAft>
                <a:spcPts val="500"/>
              </a:spcAft>
              <a:defRPr sz="1500">
                <a:solidFill>
                  <a:srgbClr val="232C38"/>
                </a:solidFill>
                <a:latin typeface="Aptos"/>
              </a:defRPr>
            </a:pPr>
            <a:r>
              <a:t>• Weeks 13–14: Authentication, Docker, CI/CD, deployment and monitoring.</a:t>
            </a:r>
          </a:p>
          <a:p>
            <a:pPr>
              <a:spcAft>
                <a:spcPts val="500"/>
              </a:spcAft>
              <a:defRPr sz="1500">
                <a:solidFill>
                  <a:srgbClr val="232C38"/>
                </a:solidFill>
                <a:latin typeface="Aptos"/>
              </a:defRPr>
            </a:pPr>
            <a:r>
              <a:t>• After core release: PySpark, streaming and predictive analytics based on demonstrated need.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26. Definition of done for every feature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QUALITY</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28</a:t>
            </a:r>
          </a:p>
        </p:txBody>
      </p:sp>
      <p:sp>
        <p:nvSpPr>
          <p:cNvPr id="7" name="TextBox 6"/>
          <p:cNvSpPr txBox="1"/>
          <p:nvPr/>
        </p:nvSpPr>
        <p:spPr>
          <a:xfrm>
            <a:off x="822960" y="1371600"/>
            <a:ext cx="10515600" cy="448056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The requirement and acceptance criteria are written down.</a:t>
            </a:r>
          </a:p>
          <a:p>
            <a:pPr>
              <a:spcAft>
                <a:spcPts val="500"/>
              </a:spcAft>
              <a:defRPr sz="1600">
                <a:solidFill>
                  <a:srgbClr val="232C38"/>
                </a:solidFill>
                <a:latin typeface="Aptos"/>
              </a:defRPr>
            </a:pPr>
            <a:r>
              <a:t>• The implementation is small enough to explain and review.</a:t>
            </a:r>
          </a:p>
          <a:p>
            <a:pPr>
              <a:spcAft>
                <a:spcPts val="500"/>
              </a:spcAft>
              <a:defRPr sz="1600">
                <a:solidFill>
                  <a:srgbClr val="232C38"/>
                </a:solidFill>
                <a:latin typeface="Aptos"/>
              </a:defRPr>
            </a:pPr>
            <a:r>
              <a:t>• Input validation and expected error behavior are included.</a:t>
            </a:r>
          </a:p>
          <a:p>
            <a:pPr>
              <a:spcAft>
                <a:spcPts val="500"/>
              </a:spcAft>
              <a:defRPr sz="1600">
                <a:solidFill>
                  <a:srgbClr val="232C38"/>
                </a:solidFill>
                <a:latin typeface="Aptos"/>
              </a:defRPr>
            </a:pPr>
            <a:r>
              <a:t>• Relevant unit or integration tests pass.</a:t>
            </a:r>
          </a:p>
          <a:p>
            <a:pPr>
              <a:spcAft>
                <a:spcPts val="500"/>
              </a:spcAft>
              <a:defRPr sz="1600">
                <a:solidFill>
                  <a:srgbClr val="232C38"/>
                </a:solidFill>
                <a:latin typeface="Aptos"/>
              </a:defRPr>
            </a:pPr>
            <a:r>
              <a:t>• Database changes are represented by a migration where applicable.</a:t>
            </a:r>
          </a:p>
          <a:p>
            <a:pPr>
              <a:spcAft>
                <a:spcPts val="500"/>
              </a:spcAft>
              <a:defRPr sz="1600">
                <a:solidFill>
                  <a:srgbClr val="232C38"/>
                </a:solidFill>
                <a:latin typeface="Aptos"/>
              </a:defRPr>
            </a:pPr>
            <a:r>
              <a:t>• The README or API docs are updated if behavior changed.</a:t>
            </a:r>
          </a:p>
          <a:p>
            <a:pPr>
              <a:spcAft>
                <a:spcPts val="500"/>
              </a:spcAft>
              <a:defRPr sz="1600">
                <a:solidFill>
                  <a:srgbClr val="232C38"/>
                </a:solidFill>
                <a:latin typeface="Aptos"/>
              </a:defRPr>
            </a:pPr>
            <a:r>
              <a:t>• A meaningful Git commit exists; changes are pushed and reviewed.</a:t>
            </a:r>
          </a:p>
          <a:p>
            <a:pPr>
              <a:spcAft>
                <a:spcPts val="500"/>
              </a:spcAft>
              <a:defRPr sz="1600">
                <a:solidFill>
                  <a:srgbClr val="232C38"/>
                </a:solidFill>
                <a:latin typeface="Aptos"/>
              </a:defRPr>
            </a:pPr>
            <a:r>
              <a:t>• The feature works in the deployed demo if it is part of the released milestone.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27. What makes this resume-worthy?</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PORTFOLIO</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29</a:t>
            </a:r>
          </a:p>
        </p:txBody>
      </p:sp>
      <p:sp>
        <p:nvSpPr>
          <p:cNvPr id="7" name="Rounded Rectangle 6"/>
          <p:cNvSpPr/>
          <p:nvPr/>
        </p:nvSpPr>
        <p:spPr>
          <a:xfrm>
            <a:off x="685800" y="1371600"/>
            <a:ext cx="347472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71600"/>
            <a:ext cx="64008" cy="164592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Live demo</a:t>
            </a:r>
          </a:p>
        </p:txBody>
      </p:sp>
      <p:sp>
        <p:nvSpPr>
          <p:cNvPr id="10" name="TextBox 9"/>
          <p:cNvSpPr txBox="1"/>
          <p:nvPr/>
        </p:nvSpPr>
        <p:spPr>
          <a:xfrm>
            <a:off x="850392" y="1874519"/>
            <a:ext cx="3163824" cy="106070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A reviewer can try the main user journey.</a:t>
            </a:r>
          </a:p>
        </p:txBody>
      </p:sp>
      <p:sp>
        <p:nvSpPr>
          <p:cNvPr id="11" name="Rounded Rectangle 10"/>
          <p:cNvSpPr/>
          <p:nvPr/>
        </p:nvSpPr>
        <p:spPr>
          <a:xfrm>
            <a:off x="4343400" y="1371600"/>
            <a:ext cx="347472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371600"/>
            <a:ext cx="64008" cy="164592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Technical evidence</a:t>
            </a:r>
          </a:p>
        </p:txBody>
      </p:sp>
      <p:sp>
        <p:nvSpPr>
          <p:cNvPr id="14" name="TextBox 13"/>
          <p:cNvSpPr txBox="1"/>
          <p:nvPr/>
        </p:nvSpPr>
        <p:spPr>
          <a:xfrm>
            <a:off x="4507992" y="1874519"/>
            <a:ext cx="3163824" cy="106070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Architecture, API docs, tests and database decisions.</a:t>
            </a:r>
          </a:p>
        </p:txBody>
      </p:sp>
      <p:sp>
        <p:nvSpPr>
          <p:cNvPr id="15" name="Rounded Rectangle 14"/>
          <p:cNvSpPr/>
          <p:nvPr/>
        </p:nvSpPr>
        <p:spPr>
          <a:xfrm>
            <a:off x="8001000" y="1371600"/>
            <a:ext cx="3474720" cy="1645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371600"/>
            <a:ext cx="64008" cy="164592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490472"/>
            <a:ext cx="3182112" cy="320040"/>
          </a:xfrm>
          <a:prstGeom prst="rect">
            <a:avLst/>
          </a:prstGeom>
          <a:noFill/>
        </p:spPr>
        <p:txBody>
          <a:bodyPr wrap="square" lIns="54864" rIns="54864" tIns="54864" bIns="54864" anchor="t">
            <a:spAutoFit/>
          </a:bodyPr>
          <a:lstStyle/>
          <a:p>
            <a:pPr>
              <a:spcAft>
                <a:spcPts val="500"/>
              </a:spcAft>
              <a:defRPr sz="1500" b="1">
                <a:solidFill>
                  <a:srgbClr val="14233C"/>
                </a:solidFill>
                <a:latin typeface="Aptos"/>
              </a:defRPr>
            </a:pPr>
            <a:r>
              <a:t>Measured performance</a:t>
            </a:r>
          </a:p>
        </p:txBody>
      </p:sp>
      <p:sp>
        <p:nvSpPr>
          <p:cNvPr id="18" name="TextBox 17"/>
          <p:cNvSpPr txBox="1"/>
          <p:nvPr/>
        </p:nvSpPr>
        <p:spPr>
          <a:xfrm>
            <a:off x="8165592" y="1874519"/>
            <a:ext cx="3163824" cy="1060704"/>
          </a:xfrm>
          <a:prstGeom prst="rect">
            <a:avLst/>
          </a:prstGeom>
          <a:noFill/>
        </p:spPr>
        <p:txBody>
          <a:bodyPr wrap="square" lIns="54864" rIns="54864" tIns="54864" bIns="54864" anchor="t">
            <a:spAutoFit/>
          </a:bodyPr>
          <a:lstStyle/>
          <a:p>
            <a:pPr>
              <a:spcAft>
                <a:spcPts val="500"/>
              </a:spcAft>
              <a:defRPr sz="1300" b="0">
                <a:solidFill>
                  <a:srgbClr val="232C38"/>
                </a:solidFill>
                <a:latin typeface="Aptos"/>
              </a:defRPr>
            </a:pPr>
            <a:r>
              <a:t>Pipeline throughput, query plan comparisons, ML metrics if added.</a:t>
            </a:r>
          </a:p>
        </p:txBody>
      </p:sp>
      <p:sp>
        <p:nvSpPr>
          <p:cNvPr id="19" name="TextBox 18"/>
          <p:cNvSpPr txBox="1"/>
          <p:nvPr/>
        </p:nvSpPr>
        <p:spPr>
          <a:xfrm>
            <a:off x="868680" y="3703320"/>
            <a:ext cx="10241280" cy="146304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Include a 2–3 minute demo video and clear screenshots.</a:t>
            </a:r>
          </a:p>
          <a:p>
            <a:pPr>
              <a:spcAft>
                <a:spcPts val="500"/>
              </a:spcAft>
              <a:defRPr sz="1500">
                <a:solidFill>
                  <a:srgbClr val="232C38"/>
                </a:solidFill>
                <a:latin typeface="Aptos"/>
              </a:defRPr>
            </a:pPr>
            <a:r>
              <a:t>• Explain trade-offs and limitations honestly.</a:t>
            </a:r>
          </a:p>
          <a:p>
            <a:pPr>
              <a:spcAft>
                <a:spcPts val="500"/>
              </a:spcAft>
              <a:defRPr sz="1500">
                <a:solidFill>
                  <a:srgbClr val="232C38"/>
                </a:solidFill>
                <a:latin typeface="Aptos"/>
              </a:defRPr>
            </a:pPr>
            <a:r>
              <a:t>• Use real numbers only after measuring them; label synthetic data and simulated events.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28. Risks and how we avoid them</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PROJECT MANAGEMENT</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30</a:t>
            </a:r>
          </a:p>
        </p:txBody>
      </p:sp>
      <p:sp>
        <p:nvSpPr>
          <p:cNvPr id="7" name="Rounded Rectangle 6"/>
          <p:cNvSpPr/>
          <p:nvPr/>
        </p:nvSpPr>
        <p:spPr>
          <a:xfrm>
            <a:off x="685800" y="1325880"/>
            <a:ext cx="530352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64008" cy="1325880"/>
          </a:xfrm>
          <a:prstGeom prst="rect">
            <a:avLst/>
          </a:prstGeom>
          <a:solidFill>
            <a:srgbClr val="E3A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444752"/>
            <a:ext cx="501091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Scope creep</a:t>
            </a:r>
          </a:p>
        </p:txBody>
      </p:sp>
      <p:sp>
        <p:nvSpPr>
          <p:cNvPr id="10" name="TextBox 9"/>
          <p:cNvSpPr txBox="1"/>
          <p:nvPr/>
        </p:nvSpPr>
        <p:spPr>
          <a:xfrm>
            <a:off x="850392" y="1828800"/>
            <a:ext cx="499262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Ship a small end-to-end slice first; put advanced features in later milestones.</a:t>
            </a:r>
          </a:p>
        </p:txBody>
      </p:sp>
      <p:sp>
        <p:nvSpPr>
          <p:cNvPr id="11" name="Rounded Rectangle 10"/>
          <p:cNvSpPr/>
          <p:nvPr/>
        </p:nvSpPr>
        <p:spPr>
          <a:xfrm>
            <a:off x="6217920" y="1325880"/>
            <a:ext cx="52578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64008" cy="1325880"/>
          </a:xfrm>
          <a:prstGeom prst="rect">
            <a:avLst/>
          </a:prstGeom>
          <a:solidFill>
            <a:srgbClr val="2D6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444752"/>
            <a:ext cx="49651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Tool overload</a:t>
            </a:r>
          </a:p>
        </p:txBody>
      </p:sp>
      <p:sp>
        <p:nvSpPr>
          <p:cNvPr id="14" name="TextBox 13"/>
          <p:cNvSpPr txBox="1"/>
          <p:nvPr/>
        </p:nvSpPr>
        <p:spPr>
          <a:xfrm>
            <a:off x="6382512" y="1828800"/>
            <a:ext cx="494690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Introduce one technology only when the current milestone needs it.</a:t>
            </a:r>
          </a:p>
        </p:txBody>
      </p:sp>
      <p:sp>
        <p:nvSpPr>
          <p:cNvPr id="15" name="Rounded Rectangle 14"/>
          <p:cNvSpPr/>
          <p:nvPr/>
        </p:nvSpPr>
        <p:spPr>
          <a:xfrm>
            <a:off x="685800" y="2971800"/>
            <a:ext cx="530352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2971800"/>
            <a:ext cx="64008" cy="1325880"/>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090672"/>
            <a:ext cx="501091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Tutorial-copy project</a:t>
            </a:r>
          </a:p>
        </p:txBody>
      </p:sp>
      <p:sp>
        <p:nvSpPr>
          <p:cNvPr id="18" name="TextBox 17"/>
          <p:cNvSpPr txBox="1"/>
          <p:nvPr/>
        </p:nvSpPr>
        <p:spPr>
          <a:xfrm>
            <a:off x="850392" y="3474720"/>
            <a:ext cx="499262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Write your own requirements, understand each file and record design decisions.</a:t>
            </a:r>
          </a:p>
        </p:txBody>
      </p:sp>
      <p:sp>
        <p:nvSpPr>
          <p:cNvPr id="19" name="Rounded Rectangle 18"/>
          <p:cNvSpPr/>
          <p:nvPr/>
        </p:nvSpPr>
        <p:spPr>
          <a:xfrm>
            <a:off x="6217920" y="2971800"/>
            <a:ext cx="52578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71800"/>
            <a:ext cx="64008" cy="132588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090672"/>
            <a:ext cx="4965192" cy="320040"/>
          </a:xfrm>
          <a:prstGeom prst="rect">
            <a:avLst/>
          </a:prstGeom>
          <a:noFill/>
        </p:spPr>
        <p:txBody>
          <a:bodyPr wrap="square" lIns="54864" rIns="54864" tIns="54864" bIns="54864" anchor="t">
            <a:spAutoFit/>
          </a:bodyPr>
          <a:lstStyle/>
          <a:p>
            <a:pPr>
              <a:spcAft>
                <a:spcPts val="500"/>
              </a:spcAft>
              <a:defRPr sz="1400" b="1">
                <a:solidFill>
                  <a:srgbClr val="14233C"/>
                </a:solidFill>
                <a:latin typeface="Aptos"/>
              </a:defRPr>
            </a:pPr>
            <a:r>
              <a:t>Unreliable data</a:t>
            </a:r>
          </a:p>
        </p:txBody>
      </p:sp>
      <p:sp>
        <p:nvSpPr>
          <p:cNvPr id="22" name="TextBox 21"/>
          <p:cNvSpPr txBox="1"/>
          <p:nvPr/>
        </p:nvSpPr>
        <p:spPr>
          <a:xfrm>
            <a:off x="6382512" y="3474720"/>
            <a:ext cx="4946904" cy="740664"/>
          </a:xfrm>
          <a:prstGeom prst="rect">
            <a:avLst/>
          </a:prstGeom>
          <a:noFill/>
        </p:spPr>
        <p:txBody>
          <a:bodyPr wrap="square" lIns="54864" rIns="54864" tIns="54864" bIns="54864" anchor="t">
            <a:spAutoFit/>
          </a:bodyPr>
          <a:lstStyle/>
          <a:p>
            <a:pPr>
              <a:spcAft>
                <a:spcPts val="500"/>
              </a:spcAft>
              <a:defRPr sz="1200" b="0">
                <a:solidFill>
                  <a:srgbClr val="232C38"/>
                </a:solidFill>
                <a:latin typeface="Aptos"/>
              </a:defRPr>
            </a:pPr>
            <a:r>
              <a:t>Validate, document provenance, quarantine rejects and reconcile totals.</a:t>
            </a:r>
          </a:p>
        </p:txBody>
      </p:sp>
      <p:sp>
        <p:nvSpPr>
          <p:cNvPr id="23" name="TextBox 22"/>
          <p:cNvSpPr txBox="1"/>
          <p:nvPr/>
        </p:nvSpPr>
        <p:spPr>
          <a:xfrm>
            <a:off x="822960" y="4983480"/>
            <a:ext cx="10515600" cy="457200"/>
          </a:xfrm>
          <a:prstGeom prst="rect">
            <a:avLst/>
          </a:prstGeom>
          <a:noFill/>
        </p:spPr>
        <p:txBody>
          <a:bodyPr wrap="square" lIns="54864" rIns="54864" tIns="54864" bIns="54864" anchor="t">
            <a:spAutoFit/>
          </a:bodyPr>
          <a:lstStyle/>
          <a:p>
            <a:pPr algn="ctr">
              <a:spcAft>
                <a:spcPts val="500"/>
              </a:spcAft>
              <a:defRPr sz="1800" b="1">
                <a:solidFill>
                  <a:srgbClr val="14233C"/>
                </a:solidFill>
                <a:latin typeface="Aptos"/>
              </a:defRPr>
            </a:pPr>
            <a:r>
              <a:t>The goal is depth and understanding—not the largest number of tools.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29. Your first session: do only these tasks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START HERE</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31</a:t>
            </a:r>
          </a:p>
        </p:txBody>
      </p:sp>
      <p:sp>
        <p:nvSpPr>
          <p:cNvPr id="7" name="TextBox 6"/>
          <p:cNvSpPr txBox="1"/>
          <p:nvPr/>
        </p:nvSpPr>
        <p:spPr>
          <a:xfrm>
            <a:off x="777240" y="1280160"/>
            <a:ext cx="6400800" cy="4389120"/>
          </a:xfrm>
          <a:prstGeom prst="rect">
            <a:avLst/>
          </a:prstGeom>
          <a:noFill/>
        </p:spPr>
        <p:txBody>
          <a:bodyPr wrap="square" lIns="109728" rIns="73152" tIns="73152">
            <a:spAutoFit/>
          </a:bodyPr>
          <a:lstStyle/>
          <a:p>
            <a:pPr>
              <a:spcAft>
                <a:spcPts val="500"/>
              </a:spcAft>
              <a:defRPr sz="1600">
                <a:solidFill>
                  <a:srgbClr val="232C38"/>
                </a:solidFill>
                <a:latin typeface="Aptos"/>
              </a:defRPr>
            </a:pPr>
            <a:r>
              <a:t>• Create the GitHub repository: supplychain-sentinel.</a:t>
            </a:r>
          </a:p>
          <a:p>
            <a:pPr>
              <a:spcAft>
                <a:spcPts val="500"/>
              </a:spcAft>
              <a:defRPr sz="1600">
                <a:solidFill>
                  <a:srgbClr val="232C38"/>
                </a:solidFill>
                <a:latin typeface="Aptos"/>
              </a:defRPr>
            </a:pPr>
            <a:r>
              <a:t>• Clone it to your computer and open it in VS Code.</a:t>
            </a:r>
          </a:p>
          <a:p>
            <a:pPr>
              <a:spcAft>
                <a:spcPts val="500"/>
              </a:spcAft>
              <a:defRPr sz="1600">
                <a:solidFill>
                  <a:srgbClr val="232C38"/>
                </a:solidFill>
                <a:latin typeface="Aptos"/>
              </a:defRPr>
            </a:pPr>
            <a:r>
              <a:t>• Create docs/ and save this blueprint as docs/project-blueprint.pptx.</a:t>
            </a:r>
          </a:p>
          <a:p>
            <a:pPr>
              <a:spcAft>
                <a:spcPts val="500"/>
              </a:spcAft>
              <a:defRPr sz="1600">
                <a:solidFill>
                  <a:srgbClr val="232C38"/>
                </a:solidFill>
                <a:latin typeface="Aptos"/>
              </a:defRPr>
            </a:pPr>
            <a:r>
              <a:t>• Create a README with the project problem, goals, planned stack and current status.</a:t>
            </a:r>
          </a:p>
          <a:p>
            <a:pPr>
              <a:spcAft>
                <a:spcPts val="500"/>
              </a:spcAft>
              <a:defRPr sz="1600">
                <a:solidFill>
                  <a:srgbClr val="232C38"/>
                </a:solidFill>
                <a:latin typeface="Aptos"/>
              </a:defRPr>
            </a:pPr>
            <a:r>
              <a:t>• Create a .gitignore and .env.example; never commit a real .env file.</a:t>
            </a:r>
          </a:p>
          <a:p>
            <a:pPr>
              <a:spcAft>
                <a:spcPts val="500"/>
              </a:spcAft>
              <a:defRPr sz="1600">
                <a:solidFill>
                  <a:srgbClr val="232C38"/>
                </a:solidFill>
                <a:latin typeface="Aptos"/>
              </a:defRPr>
            </a:pPr>
            <a:r>
              <a:t>• Commit the initial scaffold and push it to GitHub.</a:t>
            </a:r>
          </a:p>
        </p:txBody>
      </p:sp>
      <p:sp>
        <p:nvSpPr>
          <p:cNvPr id="8" name="Rounded Rectangle 7"/>
          <p:cNvSpPr/>
          <p:nvPr/>
        </p:nvSpPr>
        <p:spPr>
          <a:xfrm>
            <a:off x="7498079" y="1508760"/>
            <a:ext cx="3749039" cy="246888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62671" y="1618488"/>
            <a:ext cx="3419856" cy="2267712"/>
          </a:xfrm>
          <a:prstGeom prst="rect">
            <a:avLst/>
          </a:prstGeom>
          <a:noFill/>
        </p:spPr>
        <p:txBody>
          <a:bodyPr wrap="square" lIns="0" rIns="0" tIns="0" bIns="0">
            <a:spAutoFit/>
          </a:bodyPr>
          <a:lstStyle/>
          <a:p>
            <a:pPr>
              <a:spcAft>
                <a:spcPts val="100"/>
              </a:spcAft>
              <a:defRPr sz="1200">
                <a:solidFill>
                  <a:srgbClr val="E0EBF6"/>
                </a:solidFill>
                <a:latin typeface="Consolas"/>
              </a:defRPr>
            </a:pPr>
            <a:r>
              <a:t>git status</a:t>
            </a:r>
          </a:p>
          <a:p>
            <a:pPr>
              <a:spcAft>
                <a:spcPts val="100"/>
              </a:spcAft>
              <a:defRPr sz="1200">
                <a:solidFill>
                  <a:srgbClr val="E0EBF6"/>
                </a:solidFill>
                <a:latin typeface="Consolas"/>
              </a:defRPr>
            </a:pPr>
            <a:r>
              <a:t>git add README.md docs .gitignore .env.example</a:t>
            </a:r>
          </a:p>
          <a:p>
            <a:pPr>
              <a:spcAft>
                <a:spcPts val="100"/>
              </a:spcAft>
              <a:defRPr sz="1200">
                <a:solidFill>
                  <a:srgbClr val="E0EBF6"/>
                </a:solidFill>
                <a:latin typeface="Consolas"/>
              </a:defRPr>
            </a:pPr>
            <a:r>
              <a:t>git commit -m "docs: add project blueprint"</a:t>
            </a:r>
          </a:p>
          <a:p>
            <a:pPr>
              <a:spcAft>
                <a:spcPts val="100"/>
              </a:spcAft>
              <a:defRPr sz="1200">
                <a:solidFill>
                  <a:srgbClr val="E0EBF6"/>
                </a:solidFill>
                <a:latin typeface="Consolas"/>
              </a:defRPr>
            </a:pPr>
            <a:r>
              <a:t>git push</a:t>
            </a:r>
          </a:p>
        </p:txBody>
      </p:sp>
      <p:sp>
        <p:nvSpPr>
          <p:cNvPr id="10" name="TextBox 9"/>
          <p:cNvSpPr txBox="1"/>
          <p:nvPr/>
        </p:nvSpPr>
        <p:spPr>
          <a:xfrm>
            <a:off x="7498079" y="4343400"/>
            <a:ext cx="3657600" cy="731520"/>
          </a:xfrm>
          <a:prstGeom prst="rect">
            <a:avLst/>
          </a:prstGeom>
          <a:noFill/>
        </p:spPr>
        <p:txBody>
          <a:bodyPr wrap="square" lIns="54864" rIns="54864" tIns="54864" bIns="54864" anchor="t">
            <a:spAutoFit/>
          </a:bodyPr>
          <a:lstStyle/>
          <a:p>
            <a:pPr>
              <a:spcAft>
                <a:spcPts val="500"/>
              </a:spcAft>
              <a:defRPr sz="1400" b="1">
                <a:solidFill>
                  <a:srgbClr val="008C91"/>
                </a:solidFill>
                <a:latin typeface="Aptos"/>
              </a:defRPr>
            </a:pPr>
            <a:r>
              <a:t>Then stop and verify the repository looks correct before writing application code.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30. README starter outline</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GIT &amp; GITHUB</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32</a:t>
            </a:r>
          </a:p>
        </p:txBody>
      </p:sp>
      <p:sp>
        <p:nvSpPr>
          <p:cNvPr id="7" name="Rounded Rectangle 6"/>
          <p:cNvSpPr/>
          <p:nvPr/>
        </p:nvSpPr>
        <p:spPr>
          <a:xfrm>
            <a:off x="777240" y="1325880"/>
            <a:ext cx="6583680" cy="475488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435607"/>
            <a:ext cx="6254496" cy="4553712"/>
          </a:xfrm>
          <a:prstGeom prst="rect">
            <a:avLst/>
          </a:prstGeom>
          <a:noFill/>
        </p:spPr>
        <p:txBody>
          <a:bodyPr wrap="square" lIns="0" rIns="0" tIns="0" bIns="0">
            <a:spAutoFit/>
          </a:bodyPr>
          <a:lstStyle/>
          <a:p>
            <a:pPr>
              <a:spcAft>
                <a:spcPts val="100"/>
              </a:spcAft>
              <a:defRPr sz="1200">
                <a:solidFill>
                  <a:srgbClr val="E0EBF6"/>
                </a:solidFill>
                <a:latin typeface="Consolas"/>
              </a:defRPr>
            </a:pPr>
            <a:r>
              <a:t># SupplyChain Sentinel</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A full-stack supply-chain operations and data intelligence platform.</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Problem</a:t>
            </a:r>
          </a:p>
          <a:p>
            <a:pPr>
              <a:spcAft>
                <a:spcPts val="100"/>
              </a:spcAft>
              <a:defRPr sz="1200">
                <a:solidFill>
                  <a:srgbClr val="E0EBF6"/>
                </a:solidFill>
                <a:latin typeface="Consolas"/>
              </a:defRPr>
            </a:pPr>
            <a:r>
              <a:t>Explain the operational problem and target users.</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Goals</a:t>
            </a:r>
          </a:p>
          <a:p>
            <a:pPr>
              <a:spcAft>
                <a:spcPts val="100"/>
              </a:spcAft>
              <a:defRPr sz="1200">
                <a:solidFill>
                  <a:srgbClr val="E0EBF6"/>
                </a:solidFill>
                <a:latin typeface="Consolas"/>
              </a:defRPr>
            </a:pPr>
            <a:r>
              <a:t>- Order, inventory, supplier and shipment workflows</a:t>
            </a:r>
          </a:p>
          <a:p>
            <a:pPr>
              <a:spcAft>
                <a:spcPts val="100"/>
              </a:spcAft>
              <a:defRPr sz="1200">
                <a:solidFill>
                  <a:srgbClr val="E0EBF6"/>
                </a:solidFill>
                <a:latin typeface="Consolas"/>
              </a:defRPr>
            </a:pPr>
            <a:r>
              <a:t>- Validated data ingestion and repeatable pipelines</a:t>
            </a:r>
          </a:p>
          <a:p>
            <a:pPr>
              <a:spcAft>
                <a:spcPts val="100"/>
              </a:spcAft>
              <a:defRPr sz="1200">
                <a:solidFill>
                  <a:srgbClr val="E0EBF6"/>
                </a:solidFill>
                <a:latin typeface="Consolas"/>
              </a:defRPr>
            </a:pPr>
            <a:r>
              <a:t>- SQL-based operational analytics</a:t>
            </a:r>
          </a:p>
          <a:p>
            <a:pPr>
              <a:spcAft>
                <a:spcPts val="100"/>
              </a:spcAft>
              <a:defRPr sz="1200">
                <a:solidFill>
                  <a:srgbClr val="E0EBF6"/>
                </a:solidFill>
                <a:latin typeface="Consolas"/>
              </a:defRPr>
            </a:pPr>
            <a:r>
              <a:t>- Tested, documented and deployed application</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Architecture</a:t>
            </a:r>
          </a:p>
          <a:p>
            <a:pPr>
              <a:spcAft>
                <a:spcPts val="100"/>
              </a:spcAft>
              <a:defRPr sz="1200">
                <a:solidFill>
                  <a:srgbClr val="E0EBF6"/>
                </a:solidFill>
                <a:latin typeface="Consolas"/>
              </a:defRPr>
            </a:pPr>
            <a:r>
              <a:t>Link to docs/architecture.md and the project blueprint.</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Technology stack</a:t>
            </a:r>
          </a:p>
          <a:p>
            <a:pPr>
              <a:spcAft>
                <a:spcPts val="100"/>
              </a:spcAft>
              <a:defRPr sz="1200">
                <a:solidFill>
                  <a:srgbClr val="E0EBF6"/>
                </a:solidFill>
                <a:latin typeface="Consolas"/>
              </a:defRPr>
            </a:pPr>
            <a:r>
              <a:t>List only technologies currently implemented; separate planned items.</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Local setup</a:t>
            </a:r>
          </a:p>
          <a:p>
            <a:pPr>
              <a:spcAft>
                <a:spcPts val="100"/>
              </a:spcAft>
              <a:defRPr sz="1200">
                <a:solidFill>
                  <a:srgbClr val="E0EBF6"/>
                </a:solidFill>
                <a:latin typeface="Consolas"/>
              </a:defRPr>
            </a:pPr>
            <a:r>
              <a:t>Add tested setup commands as the application is built.</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Testing</a:t>
            </a:r>
          </a:p>
          <a:p>
            <a:pPr>
              <a:spcAft>
                <a:spcPts val="100"/>
              </a:spcAft>
              <a:defRPr sz="1200">
                <a:solidFill>
                  <a:srgbClr val="E0EBF6"/>
                </a:solidFill>
                <a:latin typeface="Consolas"/>
              </a:defRPr>
            </a:pPr>
            <a:r>
              <a:t>Explain how to run tests and what they cover.</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Data</a:t>
            </a:r>
          </a:p>
          <a:p>
            <a:pPr>
              <a:spcAft>
                <a:spcPts val="100"/>
              </a:spcAft>
              <a:defRPr sz="1200">
                <a:solidFill>
                  <a:srgbClr val="E0EBF6"/>
                </a:solidFill>
                <a:latin typeface="Consolas"/>
              </a:defRPr>
            </a:pPr>
            <a:r>
              <a:t>Document source, license, assumptions and synthetic/sample data.</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Project status</a:t>
            </a:r>
          </a:p>
          <a:p>
            <a:pPr>
              <a:spcAft>
                <a:spcPts val="100"/>
              </a:spcAft>
              <a:defRPr sz="1200">
                <a:solidFill>
                  <a:srgbClr val="E0EBF6"/>
                </a:solidFill>
                <a:latin typeface="Consolas"/>
              </a:defRPr>
            </a:pPr>
            <a:r>
              <a:t>Planned / In Progress / Implemented / Deferred.</a:t>
            </a:r>
          </a:p>
          <a:p>
            <a:pPr>
              <a:spcAft>
                <a:spcPts val="100"/>
              </a:spcAft>
              <a:defRPr sz="1200">
                <a:solidFill>
                  <a:srgbClr val="E0EBF6"/>
                </a:solidFill>
                <a:latin typeface="Consolas"/>
              </a:defRPr>
            </a:pPr>
          </a:p>
          <a:p>
            <a:pPr>
              <a:spcAft>
                <a:spcPts val="100"/>
              </a:spcAft>
              <a:defRPr sz="1200">
                <a:solidFill>
                  <a:srgbClr val="E0EBF6"/>
                </a:solidFill>
                <a:latin typeface="Consolas"/>
              </a:defRPr>
            </a:pPr>
            <a:r>
              <a:t>## Limitations and roadmap</a:t>
            </a:r>
          </a:p>
          <a:p>
            <a:pPr>
              <a:spcAft>
                <a:spcPts val="100"/>
              </a:spcAft>
              <a:defRPr sz="1200">
                <a:solidFill>
                  <a:srgbClr val="E0EBF6"/>
                </a:solidFill>
                <a:latin typeface="Consolas"/>
              </a:defRPr>
            </a:pPr>
            <a:r>
              <a:t>Be transparent about what is not implemented yet.</a:t>
            </a:r>
          </a:p>
        </p:txBody>
      </p:sp>
      <p:sp>
        <p:nvSpPr>
          <p:cNvPr id="9" name="TextBox 8"/>
          <p:cNvSpPr txBox="1"/>
          <p:nvPr/>
        </p:nvSpPr>
        <p:spPr>
          <a:xfrm>
            <a:off x="7726679" y="1508760"/>
            <a:ext cx="3474720" cy="420624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Keep it truthful and current.</a:t>
            </a:r>
          </a:p>
          <a:p>
            <a:pPr>
              <a:spcAft>
                <a:spcPts val="500"/>
              </a:spcAft>
              <a:defRPr sz="1500">
                <a:solidFill>
                  <a:srgbClr val="232C38"/>
                </a:solidFill>
                <a:latin typeface="Aptos"/>
              </a:defRPr>
            </a:pPr>
            <a:r>
              <a:t>• Add screenshots only after features exist.</a:t>
            </a:r>
          </a:p>
          <a:p>
            <a:pPr>
              <a:spcAft>
                <a:spcPts val="500"/>
              </a:spcAft>
              <a:defRPr sz="1500">
                <a:solidFill>
                  <a:srgbClr val="232C38"/>
                </a:solidFill>
                <a:latin typeface="Aptos"/>
              </a:defRPr>
            </a:pPr>
            <a:r>
              <a:t>• Add run commands after testing them.</a:t>
            </a:r>
          </a:p>
          <a:p>
            <a:pPr>
              <a:spcAft>
                <a:spcPts val="500"/>
              </a:spcAft>
              <a:defRPr sz="1500">
                <a:solidFill>
                  <a:srgbClr val="232C38"/>
                </a:solidFill>
                <a:latin typeface="Aptos"/>
              </a:defRPr>
            </a:pPr>
            <a:r>
              <a:t>• Document setup for a new developer.</a:t>
            </a:r>
          </a:p>
          <a:p>
            <a:pPr>
              <a:spcAft>
                <a:spcPts val="500"/>
              </a:spcAft>
              <a:defRPr sz="1500">
                <a:solidFill>
                  <a:srgbClr val="232C38"/>
                </a:solidFill>
                <a:latin typeface="Aptos"/>
              </a:defRPr>
            </a:pPr>
            <a:r>
              <a:t>• Link architecture, database and API docs.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lIns="54864" rIns="54864" tIns="54864" bIns="54864" anchor="t">
            <a:spAutoFit/>
          </a:bodyPr>
          <a:lstStyle/>
          <a:p>
            <a:pPr>
              <a:spcAft>
                <a:spcPts val="500"/>
              </a:spcAft>
              <a:defRPr sz="2700" b="1">
                <a:solidFill>
                  <a:srgbClr val="14233C"/>
                </a:solidFill>
                <a:latin typeface="Aptos"/>
              </a:defRPr>
            </a:pPr>
            <a:r>
              <a:t>31. Learning references</a:t>
            </a:r>
          </a:p>
        </p:txBody>
      </p:sp>
      <p:sp>
        <p:nvSpPr>
          <p:cNvPr id="3" name="Rectangle 2"/>
          <p:cNvSpPr/>
          <p:nvPr/>
        </p:nvSpPr>
        <p:spPr>
          <a:xfrm>
            <a:off x="530352" y="832104"/>
            <a:ext cx="914400" cy="50292"/>
          </a:xfrm>
          <a:prstGeom prst="rect">
            <a:avLst/>
          </a:prstGeom>
          <a:solidFill>
            <a:srgbClr val="008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784080" y="283464"/>
            <a:ext cx="1828800" cy="274320"/>
          </a:xfrm>
          <a:prstGeom prst="rect">
            <a:avLst/>
          </a:prstGeom>
          <a:noFill/>
        </p:spPr>
        <p:txBody>
          <a:bodyPr wrap="square" lIns="54864" rIns="54864" tIns="54864" bIns="54864" anchor="t">
            <a:spAutoFit/>
          </a:bodyPr>
          <a:lstStyle/>
          <a:p>
            <a:pPr algn="r">
              <a:spcAft>
                <a:spcPts val="500"/>
              </a:spcAft>
              <a:defRPr sz="900" b="1">
                <a:solidFill>
                  <a:srgbClr val="008C91"/>
                </a:solidFill>
                <a:latin typeface="Aptos"/>
              </a:defRPr>
            </a:pPr>
            <a:r>
              <a:t>RESOURCES</a:t>
            </a:r>
          </a:p>
        </p:txBody>
      </p:sp>
      <p:sp>
        <p:nvSpPr>
          <p:cNvPr id="5" name="TextBox 4"/>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6" name="TextBox 5"/>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33</a:t>
            </a:r>
          </a:p>
        </p:txBody>
      </p:sp>
      <p:sp>
        <p:nvSpPr>
          <p:cNvPr id="7" name="TextBox 6"/>
          <p:cNvSpPr txBox="1"/>
          <p:nvPr/>
        </p:nvSpPr>
        <p:spPr>
          <a:xfrm>
            <a:off x="731520" y="1325880"/>
            <a:ext cx="10698480" cy="4480560"/>
          </a:xfrm>
          <a:prstGeom prst="rect">
            <a:avLst/>
          </a:prstGeom>
          <a:noFill/>
        </p:spPr>
        <p:txBody>
          <a:bodyPr wrap="square" lIns="109728" rIns="73152" tIns="73152">
            <a:spAutoFit/>
          </a:bodyPr>
          <a:lstStyle/>
          <a:p>
            <a:pPr>
              <a:spcAft>
                <a:spcPts val="500"/>
              </a:spcAft>
              <a:defRPr sz="1500">
                <a:solidFill>
                  <a:srgbClr val="232C38"/>
                </a:solidFill>
                <a:latin typeface="Aptos"/>
              </a:defRPr>
            </a:pPr>
            <a:r>
              <a:t>• Git: https://git-scm.com/book/en/v2</a:t>
            </a:r>
          </a:p>
          <a:p>
            <a:pPr>
              <a:spcAft>
                <a:spcPts val="500"/>
              </a:spcAft>
              <a:defRPr sz="1500">
                <a:solidFill>
                  <a:srgbClr val="232C38"/>
                </a:solidFill>
                <a:latin typeface="Aptos"/>
              </a:defRPr>
            </a:pPr>
            <a:r>
              <a:t>• GitHub Docs: https://docs.github.com/</a:t>
            </a:r>
          </a:p>
          <a:p>
            <a:pPr>
              <a:spcAft>
                <a:spcPts val="500"/>
              </a:spcAft>
              <a:defRPr sz="1500">
                <a:solidFill>
                  <a:srgbClr val="232C38"/>
                </a:solidFill>
                <a:latin typeface="Aptos"/>
              </a:defRPr>
            </a:pPr>
            <a:r>
              <a:t>• Python tutorial: https://docs.python.org/3/tutorial/</a:t>
            </a:r>
          </a:p>
          <a:p>
            <a:pPr>
              <a:spcAft>
                <a:spcPts val="500"/>
              </a:spcAft>
              <a:defRPr sz="1500">
                <a:solidFill>
                  <a:srgbClr val="232C38"/>
                </a:solidFill>
                <a:latin typeface="Aptos"/>
              </a:defRPr>
            </a:pPr>
            <a:r>
              <a:t>• FastAPI tutorial: https://fastapi.tiangolo.com/tutorial/</a:t>
            </a:r>
          </a:p>
          <a:p>
            <a:pPr>
              <a:spcAft>
                <a:spcPts val="500"/>
              </a:spcAft>
              <a:defRPr sz="1500">
                <a:solidFill>
                  <a:srgbClr val="232C38"/>
                </a:solidFill>
                <a:latin typeface="Aptos"/>
              </a:defRPr>
            </a:pPr>
            <a:r>
              <a:t>• PostgreSQL tutorial: https://www.postgresql.org/docs/current/tutorial.html</a:t>
            </a:r>
          </a:p>
          <a:p>
            <a:pPr>
              <a:spcAft>
                <a:spcPts val="500"/>
              </a:spcAft>
              <a:defRPr sz="1500">
                <a:solidFill>
                  <a:srgbClr val="232C38"/>
                </a:solidFill>
                <a:latin typeface="Aptos"/>
              </a:defRPr>
            </a:pPr>
            <a:r>
              <a:t>• React Learn: https://react.dev/learn</a:t>
            </a:r>
          </a:p>
          <a:p>
            <a:pPr>
              <a:spcAft>
                <a:spcPts val="500"/>
              </a:spcAft>
              <a:defRPr sz="1500">
                <a:solidFill>
                  <a:srgbClr val="232C38"/>
                </a:solidFill>
                <a:latin typeface="Aptos"/>
              </a:defRPr>
            </a:pPr>
            <a:r>
              <a:t>• Docker Get Started: https://docs.docker.com/get-started/</a:t>
            </a:r>
          </a:p>
          <a:p>
            <a:pPr>
              <a:spcAft>
                <a:spcPts val="500"/>
              </a:spcAft>
              <a:defRPr sz="1500">
                <a:solidFill>
                  <a:srgbClr val="232C38"/>
                </a:solidFill>
                <a:latin typeface="Aptos"/>
              </a:defRPr>
            </a:pPr>
            <a:r>
              <a:t>• PySpark documentation: https://spark.apache.org/docs/latest/api/python/</a:t>
            </a:r>
          </a:p>
          <a:p>
            <a:pPr>
              <a:spcAft>
                <a:spcPts val="500"/>
              </a:spcAft>
              <a:defRPr sz="1500">
                <a:solidFill>
                  <a:srgbClr val="232C38"/>
                </a:solidFill>
                <a:latin typeface="Aptos"/>
              </a:defRPr>
            </a:pPr>
            <a:r>
              <a:t>• GitHub Actions: https://docs.github.com/actions</a:t>
            </a:r>
          </a:p>
        </p:txBody>
      </p:sp>
      <p:sp>
        <p:nvSpPr>
          <p:cNvPr id="8" name="TextBox 7"/>
          <p:cNvSpPr txBox="1"/>
          <p:nvPr/>
        </p:nvSpPr>
        <p:spPr>
          <a:xfrm>
            <a:off x="822960" y="5806440"/>
            <a:ext cx="10424160" cy="320040"/>
          </a:xfrm>
          <a:prstGeom prst="rect">
            <a:avLst/>
          </a:prstGeom>
          <a:noFill/>
        </p:spPr>
        <p:txBody>
          <a:bodyPr wrap="square" lIns="54864" rIns="54864" tIns="54864" bIns="54864" anchor="t">
            <a:spAutoFit/>
          </a:bodyPr>
          <a:lstStyle/>
          <a:p>
            <a:pPr>
              <a:spcAft>
                <a:spcPts val="500"/>
              </a:spcAft>
              <a:defRPr sz="1200" b="1">
                <a:solidFill>
                  <a:srgbClr val="008C91"/>
                </a:solidFill>
                <a:latin typeface="Aptos"/>
              </a:defRPr>
            </a:pPr>
            <a:r>
              <a:t>Learn the concept needed for the current milestone; do not try to finish every tutorial first.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233C"/>
        </a:solidFill>
        <a:effectLst/>
      </p:bgPr>
    </p:bg>
    <p:spTree>
      <p:nvGrpSpPr>
        <p:cNvPr id="1" name=""/>
        <p:cNvGrpSpPr/>
        <p:nvPr/>
      </p:nvGrpSpPr>
      <p:grpSpPr/>
      <p:sp>
        <p:nvSpPr>
          <p:cNvPr id="2" name="TextBox 1"/>
          <p:cNvSpPr txBox="1"/>
          <p:nvPr/>
        </p:nvSpPr>
        <p:spPr>
          <a:xfrm>
            <a:off x="731520" y="777240"/>
            <a:ext cx="10698480" cy="411480"/>
          </a:xfrm>
          <a:prstGeom prst="rect">
            <a:avLst/>
          </a:prstGeom>
          <a:noFill/>
        </p:spPr>
        <p:txBody>
          <a:bodyPr wrap="square" lIns="54864" rIns="54864" tIns="54864" bIns="54864" anchor="t">
            <a:spAutoFit/>
          </a:bodyPr>
          <a:lstStyle/>
          <a:p>
            <a:pPr>
              <a:spcAft>
                <a:spcPts val="500"/>
              </a:spcAft>
              <a:defRPr sz="1300" b="1">
                <a:solidFill>
                  <a:srgbClr val="82D2D2"/>
                </a:solidFill>
                <a:latin typeface="Aptos"/>
              </a:defRPr>
            </a:pPr>
            <a:r>
              <a:t>SUPPLYCHAIN SENTINEL</a:t>
            </a:r>
          </a:p>
        </p:txBody>
      </p:sp>
      <p:sp>
        <p:nvSpPr>
          <p:cNvPr id="3" name="TextBox 2"/>
          <p:cNvSpPr txBox="1"/>
          <p:nvPr/>
        </p:nvSpPr>
        <p:spPr>
          <a:xfrm>
            <a:off x="731520" y="1600200"/>
            <a:ext cx="10241280" cy="914400"/>
          </a:xfrm>
          <a:prstGeom prst="rect">
            <a:avLst/>
          </a:prstGeom>
          <a:noFill/>
        </p:spPr>
        <p:txBody>
          <a:bodyPr wrap="square" lIns="54864" rIns="54864" tIns="54864" bIns="54864" anchor="t">
            <a:spAutoFit/>
          </a:bodyPr>
          <a:lstStyle/>
          <a:p>
            <a:pPr>
              <a:spcAft>
                <a:spcPts val="500"/>
              </a:spcAft>
              <a:defRPr sz="3400" b="1">
                <a:solidFill>
                  <a:srgbClr val="FFFFFF"/>
                </a:solidFill>
                <a:latin typeface="Aptos"/>
              </a:defRPr>
            </a:pPr>
            <a:r>
              <a:t>Build it. Test it. Explain it.</a:t>
            </a:r>
          </a:p>
        </p:txBody>
      </p:sp>
      <p:sp>
        <p:nvSpPr>
          <p:cNvPr id="4" name="TextBox 3"/>
          <p:cNvSpPr txBox="1"/>
          <p:nvPr/>
        </p:nvSpPr>
        <p:spPr>
          <a:xfrm>
            <a:off x="777240" y="2788920"/>
            <a:ext cx="9875520" cy="1097280"/>
          </a:xfrm>
          <a:prstGeom prst="rect">
            <a:avLst/>
          </a:prstGeom>
          <a:noFill/>
        </p:spPr>
        <p:txBody>
          <a:bodyPr wrap="square" lIns="54864" rIns="54864" tIns="54864" bIns="54864" anchor="t">
            <a:spAutoFit/>
          </a:bodyPr>
          <a:lstStyle/>
          <a:p>
            <a:pPr>
              <a:spcAft>
                <a:spcPts val="500"/>
              </a:spcAft>
              <a:defRPr sz="2100" b="0">
                <a:solidFill>
                  <a:srgbClr val="DCE7F4"/>
                </a:solidFill>
                <a:latin typeface="Aptos"/>
              </a:defRPr>
            </a:pPr>
            <a:r>
              <a:t>The objective is not to use every technology. It is to build a reliable product, learn each layer from the ground up, and understand the decisions behind it.</a:t>
            </a:r>
          </a:p>
        </p:txBody>
      </p:sp>
      <p:sp>
        <p:nvSpPr>
          <p:cNvPr id="5" name="TextBox 4"/>
          <p:cNvSpPr txBox="1"/>
          <p:nvPr/>
        </p:nvSpPr>
        <p:spPr>
          <a:xfrm>
            <a:off x="777240" y="4754880"/>
            <a:ext cx="9601200" cy="731520"/>
          </a:xfrm>
          <a:prstGeom prst="rect">
            <a:avLst/>
          </a:prstGeom>
          <a:noFill/>
        </p:spPr>
        <p:txBody>
          <a:bodyPr wrap="square" lIns="54864" rIns="54864" tIns="54864" bIns="54864" anchor="t">
            <a:spAutoFit/>
          </a:bodyPr>
          <a:lstStyle/>
          <a:p>
            <a:pPr>
              <a:spcAft>
                <a:spcPts val="500"/>
              </a:spcAft>
              <a:defRPr sz="1700" b="1">
                <a:solidFill>
                  <a:srgbClr val="96D2D2"/>
                </a:solidFill>
                <a:latin typeface="Aptos"/>
              </a:defRPr>
            </a:pPr>
            <a:r>
              <a:t>Start with the repository and one small working API. Add complexity only after you can explain why it belongs.</a:t>
            </a:r>
          </a:p>
        </p:txBody>
      </p:sp>
      <p:sp>
        <p:nvSpPr>
          <p:cNvPr id="6" name="TextBox 5"/>
          <p:cNvSpPr txBox="1"/>
          <p:nvPr/>
        </p:nvSpPr>
        <p:spPr>
          <a:xfrm>
            <a:off x="502920" y="6547104"/>
            <a:ext cx="8961120" cy="164592"/>
          </a:xfrm>
          <a:prstGeom prst="rect">
            <a:avLst/>
          </a:prstGeom>
          <a:noFill/>
        </p:spPr>
        <p:txBody>
          <a:bodyPr wrap="square" lIns="54864" rIns="54864" tIns="54864" bIns="54864" anchor="t">
            <a:spAutoFit/>
          </a:bodyPr>
          <a:lstStyle/>
          <a:p>
            <a:pPr>
              <a:spcAft>
                <a:spcPts val="500"/>
              </a:spcAft>
              <a:defRPr sz="800" b="0">
                <a:solidFill>
                  <a:srgbClr val="5C6C80"/>
                </a:solidFill>
                <a:latin typeface="Aptos"/>
              </a:defRPr>
            </a:pPr>
            <a:r>
              <a:t>SUPPLYCHAIN SENTINEL  •  PROJECT BLUEPRINT  •  LEARN-BY-BUILDING</a:t>
            </a:r>
          </a:p>
        </p:txBody>
      </p:sp>
      <p:sp>
        <p:nvSpPr>
          <p:cNvPr id="7" name="TextBox 6"/>
          <p:cNvSpPr txBox="1"/>
          <p:nvPr/>
        </p:nvSpPr>
        <p:spPr>
          <a:xfrm>
            <a:off x="10972800" y="6519672"/>
            <a:ext cx="640080" cy="182880"/>
          </a:xfrm>
          <a:prstGeom prst="rect">
            <a:avLst/>
          </a:prstGeom>
          <a:noFill/>
        </p:spPr>
        <p:txBody>
          <a:bodyPr wrap="square" lIns="54864" rIns="54864" tIns="54864" bIns="54864" anchor="t">
            <a:spAutoFit/>
          </a:bodyPr>
          <a:lstStyle/>
          <a:p>
            <a:pPr algn="r">
              <a:spcAft>
                <a:spcPts val="500"/>
              </a:spcAft>
              <a:defRPr sz="900" b="0">
                <a:solidFill>
                  <a:srgbClr val="5C6C80"/>
                </a:solidFill>
                <a:latin typeface="Aptos"/>
              </a:defRPr>
            </a:pPr>
            <a: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